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05840"/>
            <a:ext cx="10362895" cy="4754880"/>
          </a:xfrm>
          <a:prstGeom prst="rect">
            <a:avLst/>
          </a:prstGeom>
          <a:noFill/>
        </p:spPr>
        <p:txBody>
          <a:bodyPr wrap="square">
            <a:spAutoFit/>
          </a:bodyPr>
          <a:lstStyle/>
          <a:p>
            <a:pPr>
              <a:spcAft>
                <a:spcPts val="1400"/>
              </a:spcAft>
              <a:defRPr sz="1100" b="1">
                <a:solidFill>
                  <a:srgbClr val="00A8CC"/>
                </a:solidFill>
                <a:latin typeface="Arial"/>
              </a:defRPr>
            </a:pPr>
            <a:r>
              <a:t>TRƯỜNG ĐẠI HỌC FPT TP.HCM — KHOA KỸ THUẬT Ô TÔ &amp; KHOA HỌC MÁY TÍNH</a:t>
            </a:r>
          </a:p>
          <a:p>
            <a:pPr>
              <a:spcAft>
                <a:spcPts val="800"/>
              </a:spcAft>
              <a:defRPr sz="2800" b="1">
                <a:solidFill>
                  <a:srgbClr val="FFFFFF"/>
                </a:solidFill>
                <a:latin typeface="Arial"/>
              </a:defRPr>
            </a:pPr>
            <a:r>
              <a:t>THIẾT KẾ VÀ HIỆN THỰC HÓA PHÂN HỆ FRONT BCM</a:t>
            </a:r>
          </a:p>
          <a:p>
            <a:pPr>
              <a:spcAft>
                <a:spcPts val="2800"/>
              </a:spcAft>
              <a:defRPr sz="1700" i="1">
                <a:solidFill>
                  <a:srgbClr val="BED7F0"/>
                </a:solidFill>
                <a:latin typeface="Arial"/>
              </a:defRPr>
            </a:pPr>
            <a:r>
              <a:t>Kiến trúc Vi điều khiển kép (Dual-MCU) trên nền tảng Mạng CAN Bus v3.0 Coordinator</a:t>
            </a:r>
          </a:p>
          <a:p>
            <a:pPr>
              <a:lnSpc>
                <a:spcPct val="135000"/>
              </a:lnSpc>
              <a:defRPr sz="1300">
                <a:solidFill>
                  <a:srgbClr val="FFFFFF"/>
                </a:solidFill>
                <a:latin typeface="Arial"/>
              </a:defRPr>
            </a:pPr>
            <a:r>
              <a:t>• Sinh viên thực hiện: Nguyễn Quốc Đạt — MSSV: FMS00045 (Kỹ sư Phân hệ Front BCM)</a:t>
            </a:r>
            <a:br/>
            <a:r>
              <a:t>• Đề tài: Smart Vehicle Dashboard Cluster Simulator (Nhóm 2 — Lớp M1.2510.E0)</a:t>
            </a:r>
            <a:br/>
            <a:r>
              <a:t>• Giảng viên hướng dẫn: ThS. Phạm Toàn Văn Võ</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r>
              <a:rPr sz="1000" b="1">
                <a:solidFill>
                  <a:srgbClr val="00A8CC"/>
                </a:solidFill>
                <a:latin typeface="Arial"/>
              </a:rPr>
              <a:t>FRONT BCM FIRMWARE | SOFTWARE DESIGN</a:t>
            </a:r>
          </a:p>
        </p:txBody>
      </p:sp>
      <p:sp>
        <p:nvSpPr>
          <p:cNvPr id="4" name="TextBox 3"/>
          <p:cNvSpPr txBox="1"/>
          <p:nvPr/>
        </p:nvSpPr>
        <p:spPr>
          <a:xfrm>
            <a:off x="731520" y="347472"/>
            <a:ext cx="10515600" cy="594360"/>
          </a:xfrm>
          <a:prstGeom prst="rect">
            <a:avLst/>
          </a:prstGeom>
          <a:noFill/>
        </p:spPr>
        <p:txBody>
          <a:bodyPr wrap="none">
            <a:spAutoFit/>
          </a:bodyPr>
          <a:lstStyle/>
          <a:p>
            <a:r>
              <a:rPr sz="2000" b="1">
                <a:solidFill>
                  <a:srgbClr val="FFFFFF"/>
                </a:solidFill>
                <a:latin typeface="Arial"/>
              </a:rPr>
              <a:t>1. TỔNG QUAN VÀ VỊ TRÍ TRONG KIẾN TRÚC PHÂN VÙNG ZONAL E/E</a:t>
            </a:r>
          </a:p>
        </p:txBody>
      </p:sp>
      <p:sp>
        <p:nvSpPr>
          <p:cNvPr id="5" name="Rounded Rectangle 4"/>
          <p:cNvSpPr/>
          <p:nvPr/>
        </p:nvSpPr>
        <p:spPr>
          <a:xfrm>
            <a:off x="731520" y="1371600"/>
            <a:ext cx="5120640" cy="4937760"/>
          </a:xfrm>
          <a:prstGeom prst="roundRect">
            <a:avLst/>
          </a:prstGeom>
          <a:solidFill>
            <a:srgbClr val="FFFFFF"/>
          </a:solidFill>
          <a:ln w="1524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4754880" cy="411480"/>
          </a:xfrm>
          <a:prstGeom prst="rect">
            <a:avLst/>
          </a:prstGeom>
          <a:noFill/>
        </p:spPr>
        <p:txBody>
          <a:bodyPr wrap="none">
            <a:spAutoFit/>
          </a:bodyPr>
          <a:lstStyle/>
          <a:p>
            <a:r>
              <a:rPr sz="1300" b="1">
                <a:solidFill>
                  <a:srgbClr val="0066CC"/>
                </a:solidFill>
                <a:latin typeface="Arial"/>
              </a:rPr>
              <a:t>VỊ TRÍ CHIẾN LƯỢC: SMART ZONAL HUB</a:t>
            </a:r>
          </a:p>
        </p:txBody>
      </p:sp>
      <p:sp>
        <p:nvSpPr>
          <p:cNvPr id="7" name="TextBox 6"/>
          <p:cNvSpPr txBox="1"/>
          <p:nvPr/>
        </p:nvSpPr>
        <p:spPr>
          <a:xfrm>
            <a:off x="914400" y="1920240"/>
            <a:ext cx="4754880" cy="4206240"/>
          </a:xfrm>
          <a:prstGeom prst="rect">
            <a:avLst/>
          </a:prstGeom>
          <a:noFill/>
        </p:spPr>
        <p:txBody>
          <a:bodyPr wrap="square">
            <a:spAutoFit/>
          </a:bodyPr>
          <a:lstStyle/>
          <a:p>
            <a:pPr>
              <a:lnSpc>
                <a:spcPct val="120000"/>
              </a:lnSpc>
              <a:defRPr sz="1200">
                <a:solidFill>
                  <a:srgbClr val="282828"/>
                </a:solidFill>
                <a:latin typeface="Arial"/>
              </a:defRPr>
            </a:pPr>
            <a:r>
              <a:t>• Xu hướng Zonal Architecture:</a:t>
            </a:r>
          </a:p>
          <a:p>
            <a:pPr>
              <a:lnSpc>
                <a:spcPct val="120000"/>
              </a:lnSpc>
              <a:defRPr sz="1200">
                <a:solidFill>
                  <a:srgbClr val="282828"/>
                </a:solidFill>
                <a:latin typeface="Arial"/>
              </a:defRPr>
            </a:pPr>
            <a:r>
              <a:t>  Chuyển dịch từ phân tán theo chức năng sang phân vùng không gian. Front BCM đặt tại khoang động cơ/đầu xe.</a:t>
            </a:r>
          </a:p>
          <a:p>
            <a:pPr>
              <a:lnSpc>
                <a:spcPct val="120000"/>
              </a:lnSpc>
              <a:defRPr sz="1200">
                <a:solidFill>
                  <a:srgbClr val="282828"/>
                </a:solidFill>
                <a:latin typeface="Arial"/>
              </a:defRPr>
            </a:pPr>
          </a:p>
          <a:p>
            <a:pPr>
              <a:lnSpc>
                <a:spcPct val="120000"/>
              </a:lnSpc>
              <a:defRPr sz="1200">
                <a:solidFill>
                  <a:srgbClr val="282828"/>
                </a:solidFill>
                <a:latin typeface="Arial"/>
              </a:defRPr>
            </a:pPr>
            <a:r>
              <a:t>• Gom cụm tải &amp; Cảm biến:</a:t>
            </a:r>
          </a:p>
          <a:p>
            <a:pPr>
              <a:lnSpc>
                <a:spcPct val="120000"/>
              </a:lnSpc>
              <a:defRPr sz="1200">
                <a:solidFill>
                  <a:srgbClr val="282828"/>
                </a:solidFill>
                <a:latin typeface="Arial"/>
              </a:defRPr>
            </a:pPr>
            <a:r>
              <a:t>  Quản lý trực tiếp hệ thống đèn pha, sương mù, DRL, mô-tơ gạt mưa, bơm nước rửa kính, cảm biến mưa quang học và chiết áp Dimmer.</a:t>
            </a:r>
          </a:p>
          <a:p>
            <a:pPr>
              <a:lnSpc>
                <a:spcPct val="120000"/>
              </a:lnSpc>
              <a:defRPr sz="1200">
                <a:solidFill>
                  <a:srgbClr val="282828"/>
                </a:solidFill>
                <a:latin typeface="Arial"/>
              </a:defRPr>
            </a:pPr>
          </a:p>
          <a:p>
            <a:pPr>
              <a:lnSpc>
                <a:spcPct val="120000"/>
              </a:lnSpc>
              <a:defRPr sz="1200">
                <a:solidFill>
                  <a:srgbClr val="282828"/>
                </a:solidFill>
                <a:latin typeface="Arial"/>
              </a:defRPr>
            </a:pPr>
            <a:r>
              <a:t>• Tối ưu hóa Dây dẫn (Wiring Harness):</a:t>
            </a:r>
          </a:p>
          <a:p>
            <a:pPr>
              <a:lnSpc>
                <a:spcPct val="120000"/>
              </a:lnSpc>
              <a:defRPr sz="1200">
                <a:solidFill>
                  <a:srgbClr val="282828"/>
                </a:solidFill>
                <a:latin typeface="Arial"/>
              </a:defRPr>
            </a:pPr>
            <a:r>
              <a:t>  Thay vì kéo hàng chục dây công suất về táp-lô, chỉ duy trì 01 tuyến CAN Bus vi sai 2 dây (CAN_H, CAN_L) kết nối với Central Coordinator ECU.</a:t>
            </a:r>
          </a:p>
        </p:txBody>
      </p:sp>
      <p:sp>
        <p:nvSpPr>
          <p:cNvPr id="8" name="Rounded Rectangle 7"/>
          <p:cNvSpPr/>
          <p:nvPr/>
        </p:nvSpPr>
        <p:spPr>
          <a:xfrm>
            <a:off x="6217920" y="1371600"/>
            <a:ext cx="5212080" cy="4937760"/>
          </a:xfrm>
          <a:prstGeom prst="roundRect">
            <a:avLst/>
          </a:prstGeom>
          <a:solidFill>
            <a:srgbClr val="FFFFFF"/>
          </a:solidFill>
          <a:ln w="1524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08760"/>
            <a:ext cx="4846320" cy="411480"/>
          </a:xfrm>
          <a:prstGeom prst="rect">
            <a:avLst/>
          </a:prstGeom>
          <a:noFill/>
        </p:spPr>
        <p:txBody>
          <a:bodyPr wrap="none">
            <a:spAutoFit/>
          </a:bodyPr>
          <a:lstStyle/>
          <a:p>
            <a:r>
              <a:rPr sz="1300" b="1">
                <a:solidFill>
                  <a:srgbClr val="0A2540"/>
                </a:solidFill>
                <a:latin typeface="Arial"/>
              </a:rPr>
              <a:t>YÊU CẦU KỸ THUẬT CỐT LÕI (REQUIREMENTS)</a:t>
            </a:r>
          </a:p>
        </p:txBody>
      </p:sp>
      <p:sp>
        <p:nvSpPr>
          <p:cNvPr id="10" name="TextBox 9"/>
          <p:cNvSpPr txBox="1"/>
          <p:nvPr/>
        </p:nvSpPr>
        <p:spPr>
          <a:xfrm>
            <a:off x="6400800" y="1920240"/>
            <a:ext cx="4846320" cy="4206240"/>
          </a:xfrm>
          <a:prstGeom prst="rect">
            <a:avLst/>
          </a:prstGeom>
          <a:noFill/>
        </p:spPr>
        <p:txBody>
          <a:bodyPr wrap="square">
            <a:spAutoFit/>
          </a:bodyPr>
          <a:lstStyle/>
          <a:p>
            <a:pPr>
              <a:lnSpc>
                <a:spcPct val="120000"/>
              </a:lnSpc>
              <a:defRPr sz="1200">
                <a:solidFill>
                  <a:srgbClr val="282828"/>
                </a:solidFill>
                <a:latin typeface="Arial"/>
              </a:defRPr>
            </a:pPr>
            <a:r>
              <a:t>1. Thời gian thực khắt khe (Hard Real-Time):</a:t>
            </a:r>
          </a:p>
          <a:p>
            <a:pPr>
              <a:lnSpc>
                <a:spcPct val="120000"/>
              </a:lnSpc>
              <a:defRPr sz="1200">
                <a:solidFill>
                  <a:srgbClr val="282828"/>
                </a:solidFill>
                <a:latin typeface="Arial"/>
              </a:defRPr>
            </a:pPr>
            <a:r>
              <a:t>   - Độ trễ phản hồi tại biên: &lt; 20 ms.</a:t>
            </a:r>
          </a:p>
          <a:p>
            <a:pPr>
              <a:lnSpc>
                <a:spcPct val="120000"/>
              </a:lnSpc>
              <a:defRPr sz="1200">
                <a:solidFill>
                  <a:srgbClr val="282828"/>
                </a:solidFill>
                <a:latin typeface="Arial"/>
              </a:defRPr>
            </a:pPr>
            <a:r>
              <a:t>   - Độ trễ toàn trình (End-to-End) đến HMI: &lt; 45 ms.</a:t>
            </a:r>
          </a:p>
          <a:p>
            <a:pPr>
              <a:lnSpc>
                <a:spcPct val="120000"/>
              </a:lnSpc>
              <a:defRPr sz="1200">
                <a:solidFill>
                  <a:srgbClr val="282828"/>
                </a:solidFill>
                <a:latin typeface="Arial"/>
              </a:defRPr>
            </a:pPr>
          </a:p>
          <a:p>
            <a:pPr>
              <a:lnSpc>
                <a:spcPct val="120000"/>
              </a:lnSpc>
              <a:defRPr sz="1200">
                <a:solidFill>
                  <a:srgbClr val="282828"/>
                </a:solidFill>
                <a:latin typeface="Arial"/>
              </a:defRPr>
            </a:pPr>
            <a:r>
              <a:t>2. Kháng nghẽn băng thông (Anti-Bottleneck):</a:t>
            </a:r>
          </a:p>
          <a:p>
            <a:pPr>
              <a:lnSpc>
                <a:spcPct val="120000"/>
              </a:lnSpc>
              <a:defRPr sz="1200">
                <a:solidFill>
                  <a:srgbClr val="282828"/>
                </a:solidFill>
                <a:latin typeface="Arial"/>
              </a:defRPr>
            </a:pPr>
            <a:r>
              <a:t>   - Không làm tràn bộ đệm UART (115200 bps) khi mạng CAN (500 kbps) chạy tải đỉnh.</a:t>
            </a:r>
          </a:p>
          <a:p>
            <a:pPr>
              <a:lnSpc>
                <a:spcPct val="120000"/>
              </a:lnSpc>
              <a:defRPr sz="1200">
                <a:solidFill>
                  <a:srgbClr val="282828"/>
                </a:solidFill>
                <a:latin typeface="Arial"/>
              </a:defRPr>
            </a:pPr>
          </a:p>
          <a:p>
            <a:pPr>
              <a:lnSpc>
                <a:spcPct val="120000"/>
              </a:lnSpc>
              <a:defRPr sz="1200">
                <a:solidFill>
                  <a:srgbClr val="282828"/>
                </a:solidFill>
                <a:latin typeface="Arial"/>
              </a:defRPr>
            </a:pPr>
            <a:r>
              <a:t>3. An toàn chức năng (Functional Safety ISO 26262):</a:t>
            </a:r>
          </a:p>
          <a:p>
            <a:pPr>
              <a:lnSpc>
                <a:spcPct val="120000"/>
              </a:lnSpc>
              <a:defRPr sz="1200">
                <a:solidFill>
                  <a:srgbClr val="282828"/>
                </a:solidFill>
                <a:latin typeface="Arial"/>
              </a:defRPr>
            </a:pPr>
            <a:r>
              <a:t>   - Cơ chế Khóa lỗi cứng (Latched Fault) bảo vệ cháy bơm.</a:t>
            </a:r>
          </a:p>
          <a:p>
            <a:pPr>
              <a:lnSpc>
                <a:spcPct val="120000"/>
              </a:lnSpc>
              <a:defRPr sz="1200">
                <a:solidFill>
                  <a:srgbClr val="282828"/>
                </a:solidFill>
                <a:latin typeface="Arial"/>
              </a:defRPr>
            </a:pPr>
            <a:r>
              <a:t>   - Tự chẩn đoán phím kẹt vật lý sinh mã DTC chuẩn SAE J2012.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r>
              <a:rPr sz="1000" b="1">
                <a:solidFill>
                  <a:srgbClr val="00A8CC"/>
                </a:solidFill>
                <a:latin typeface="Arial"/>
              </a:rPr>
              <a:t>FRONT BCM FIRMWARE | SOFTWARE DESIGN</a:t>
            </a:r>
          </a:p>
        </p:txBody>
      </p:sp>
      <p:sp>
        <p:nvSpPr>
          <p:cNvPr id="4" name="TextBox 3"/>
          <p:cNvSpPr txBox="1"/>
          <p:nvPr/>
        </p:nvSpPr>
        <p:spPr>
          <a:xfrm>
            <a:off x="731520" y="347472"/>
            <a:ext cx="10515600" cy="594360"/>
          </a:xfrm>
          <a:prstGeom prst="rect">
            <a:avLst/>
          </a:prstGeom>
          <a:noFill/>
        </p:spPr>
        <p:txBody>
          <a:bodyPr wrap="none">
            <a:spAutoFit/>
          </a:bodyPr>
          <a:lstStyle/>
          <a:p>
            <a:r>
              <a:rPr sz="2000" b="1">
                <a:solidFill>
                  <a:srgbClr val="FFFFFF"/>
                </a:solidFill>
                <a:latin typeface="Arial"/>
              </a:rPr>
              <a:t>2. KIẾN TRÚC PHẦN CỨNG VI ĐIỀU KHIỂN KÉP (DUAL-MCU ARCHITECTURE)</a:t>
            </a:r>
          </a:p>
        </p:txBody>
      </p:sp>
      <p:sp>
        <p:nvSpPr>
          <p:cNvPr id="5" name="Rounded Rectangle 4"/>
          <p:cNvSpPr/>
          <p:nvPr/>
        </p:nvSpPr>
        <p:spPr>
          <a:xfrm>
            <a:off x="731520" y="1371600"/>
            <a:ext cx="5120640" cy="4937760"/>
          </a:xfrm>
          <a:prstGeom prst="roundRect">
            <a:avLst/>
          </a:prstGeom>
          <a:solidFill>
            <a:srgbClr val="FFFFFF"/>
          </a:solidFill>
          <a:ln w="1524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4754880" cy="411480"/>
          </a:xfrm>
          <a:prstGeom prst="rect">
            <a:avLst/>
          </a:prstGeom>
          <a:noFill/>
        </p:spPr>
        <p:txBody>
          <a:bodyPr wrap="none">
            <a:spAutoFit/>
          </a:bodyPr>
          <a:lstStyle/>
          <a:p>
            <a:r>
              <a:rPr sz="1300" b="1">
                <a:solidFill>
                  <a:srgbClr val="00A8CC"/>
                </a:solidFill>
                <a:latin typeface="Arial"/>
              </a:rPr>
              <a:t>TRANSLATOR NODE — STM32F103C8T6</a:t>
            </a:r>
          </a:p>
        </p:txBody>
      </p:sp>
      <p:sp>
        <p:nvSpPr>
          <p:cNvPr id="7" name="TextBox 6"/>
          <p:cNvSpPr txBox="1"/>
          <p:nvPr/>
        </p:nvSpPr>
        <p:spPr>
          <a:xfrm>
            <a:off x="914400" y="1920240"/>
            <a:ext cx="4754880" cy="4206240"/>
          </a:xfrm>
          <a:prstGeom prst="rect">
            <a:avLst/>
          </a:prstGeom>
          <a:noFill/>
        </p:spPr>
        <p:txBody>
          <a:bodyPr wrap="square">
            <a:spAutoFit/>
          </a:bodyPr>
          <a:lstStyle/>
          <a:p>
            <a:pPr>
              <a:lnSpc>
                <a:spcPct val="125000"/>
              </a:lnSpc>
              <a:defRPr sz="1200">
                <a:solidFill>
                  <a:srgbClr val="282828"/>
                </a:solidFill>
                <a:latin typeface="Arial"/>
              </a:defRPr>
            </a:pPr>
            <a:r>
              <a:t>• Vai trò: Dedicated Gateway (Lớp mạng)</a:t>
            </a:r>
          </a:p>
          <a:p>
            <a:pPr>
              <a:lnSpc>
                <a:spcPct val="125000"/>
              </a:lnSpc>
              <a:defRPr sz="1200">
                <a:solidFill>
                  <a:srgbClr val="282828"/>
                </a:solidFill>
                <a:latin typeface="Arial"/>
              </a:defRPr>
            </a:pPr>
          </a:p>
          <a:p>
            <a:pPr>
              <a:lnSpc>
                <a:spcPct val="125000"/>
              </a:lnSpc>
              <a:defRPr sz="1200">
                <a:solidFill>
                  <a:srgbClr val="282828"/>
                </a:solidFill>
                <a:latin typeface="Arial"/>
              </a:defRPr>
            </a:pPr>
            <a:r>
              <a:t>• Thông số: ARM Cortex-M3 @ 72 MHz, 64KB Flash, 20KB SRAM.</a:t>
            </a:r>
          </a:p>
          <a:p>
            <a:pPr>
              <a:lnSpc>
                <a:spcPct val="125000"/>
              </a:lnSpc>
              <a:defRPr sz="1200">
                <a:solidFill>
                  <a:srgbClr val="282828"/>
                </a:solidFill>
                <a:latin typeface="Arial"/>
              </a:defRPr>
            </a:pPr>
          </a:p>
          <a:p>
            <a:pPr>
              <a:lnSpc>
                <a:spcPct val="125000"/>
              </a:lnSpc>
              <a:defRPr sz="1200">
                <a:solidFill>
                  <a:srgbClr val="282828"/>
                </a:solidFill>
                <a:latin typeface="Arial"/>
              </a:defRPr>
            </a:pPr>
            <a:r>
              <a:t>• Tác vụ đảm nhận:</a:t>
            </a:r>
          </a:p>
          <a:p>
            <a:pPr>
              <a:lnSpc>
                <a:spcPct val="125000"/>
              </a:lnSpc>
              <a:defRPr sz="1200">
                <a:solidFill>
                  <a:srgbClr val="282828"/>
                </a:solidFill>
                <a:latin typeface="Arial"/>
              </a:defRPr>
            </a:pPr>
            <a:r>
              <a:t>  - Giao tiếp trực tiếp trục CAN Bus 500 kbps qua bxCAN1.</a:t>
            </a:r>
          </a:p>
          <a:p>
            <a:pPr>
              <a:lnSpc>
                <a:spcPct val="125000"/>
              </a:lnSpc>
              <a:defRPr sz="1200">
                <a:solidFill>
                  <a:srgbClr val="282828"/>
                </a:solidFill>
                <a:latin typeface="Arial"/>
              </a:defRPr>
            </a:pPr>
            <a:r>
              <a:t>  - Bộ lọc phần cứng (Hardware ID-Mask Filter).</a:t>
            </a:r>
          </a:p>
          <a:p>
            <a:pPr>
              <a:lnSpc>
                <a:spcPct val="125000"/>
              </a:lnSpc>
              <a:defRPr sz="1200">
                <a:solidFill>
                  <a:srgbClr val="282828"/>
                </a:solidFill>
                <a:latin typeface="Arial"/>
              </a:defRPr>
            </a:pPr>
            <a:r>
              <a:t>  - Xử lý ngắt 100% (Interrupt-Driven) FIFO0 &amp; UART.</a:t>
            </a:r>
          </a:p>
          <a:p>
            <a:pPr>
              <a:lnSpc>
                <a:spcPct val="125000"/>
              </a:lnSpc>
              <a:defRPr sz="1200">
                <a:solidFill>
                  <a:srgbClr val="282828"/>
                </a:solidFill>
                <a:latin typeface="Arial"/>
              </a:defRPr>
            </a:pPr>
            <a:r>
              <a:t>  - Thuật toán Change-Detection (Shadow Copies) lọc rác.</a:t>
            </a:r>
          </a:p>
          <a:p>
            <a:pPr>
              <a:lnSpc>
                <a:spcPct val="125000"/>
              </a:lnSpc>
              <a:defRPr sz="1200">
                <a:solidFill>
                  <a:srgbClr val="282828"/>
                </a:solidFill>
                <a:latin typeface="Arial"/>
              </a:defRPr>
            </a:pPr>
            <a:r>
              <a:t>  - Bộ giám sát Timeout 25ms chống trôi khung UART.</a:t>
            </a:r>
          </a:p>
        </p:txBody>
      </p:sp>
      <p:sp>
        <p:nvSpPr>
          <p:cNvPr id="8" name="Rounded Rectangle 7"/>
          <p:cNvSpPr/>
          <p:nvPr/>
        </p:nvSpPr>
        <p:spPr>
          <a:xfrm>
            <a:off x="6217920" y="1371600"/>
            <a:ext cx="5212080" cy="4937760"/>
          </a:xfrm>
          <a:prstGeom prst="roundRect">
            <a:avLst/>
          </a:prstGeom>
          <a:solidFill>
            <a:srgbClr val="FFFFFF"/>
          </a:solidFill>
          <a:ln w="1524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08760"/>
            <a:ext cx="4846320" cy="411480"/>
          </a:xfrm>
          <a:prstGeom prst="rect">
            <a:avLst/>
          </a:prstGeom>
          <a:noFill/>
        </p:spPr>
        <p:txBody>
          <a:bodyPr wrap="none">
            <a:spAutoFit/>
          </a:bodyPr>
          <a:lstStyle/>
          <a:p>
            <a:r>
              <a:rPr sz="1300" b="1">
                <a:solidFill>
                  <a:srgbClr val="0066CC"/>
                </a:solidFill>
                <a:latin typeface="Arial"/>
              </a:rPr>
              <a:t>ACTUATOR NODE — STM32F411VET6</a:t>
            </a:r>
          </a:p>
        </p:txBody>
      </p:sp>
      <p:sp>
        <p:nvSpPr>
          <p:cNvPr id="10" name="TextBox 9"/>
          <p:cNvSpPr txBox="1"/>
          <p:nvPr/>
        </p:nvSpPr>
        <p:spPr>
          <a:xfrm>
            <a:off x="6400800" y="1920240"/>
            <a:ext cx="4846320" cy="4206240"/>
          </a:xfrm>
          <a:prstGeom prst="rect">
            <a:avLst/>
          </a:prstGeom>
          <a:noFill/>
        </p:spPr>
        <p:txBody>
          <a:bodyPr wrap="square">
            <a:spAutoFit/>
          </a:bodyPr>
          <a:lstStyle/>
          <a:p>
            <a:pPr>
              <a:lnSpc>
                <a:spcPct val="125000"/>
              </a:lnSpc>
              <a:defRPr sz="1200">
                <a:solidFill>
                  <a:srgbClr val="282828"/>
                </a:solidFill>
                <a:latin typeface="Arial"/>
              </a:defRPr>
            </a:pPr>
            <a:r>
              <a:t>• Vai trò: Real-Time Actuator &amp; Logic (Lớp ứng dụng)</a:t>
            </a:r>
          </a:p>
          <a:p>
            <a:pPr>
              <a:lnSpc>
                <a:spcPct val="125000"/>
              </a:lnSpc>
              <a:defRPr sz="1200">
                <a:solidFill>
                  <a:srgbClr val="282828"/>
                </a:solidFill>
                <a:latin typeface="Arial"/>
              </a:defRPr>
            </a:pPr>
          </a:p>
          <a:p>
            <a:pPr>
              <a:lnSpc>
                <a:spcPct val="125000"/>
              </a:lnSpc>
              <a:defRPr sz="1200">
                <a:solidFill>
                  <a:srgbClr val="282828"/>
                </a:solidFill>
                <a:latin typeface="Arial"/>
              </a:defRPr>
            </a:pPr>
            <a:r>
              <a:t>• Thông số: ARM Cortex-M4F @ 96 MHz, 512KB Flash, 128KB SRAM.</a:t>
            </a:r>
          </a:p>
          <a:p>
            <a:pPr>
              <a:lnSpc>
                <a:spcPct val="125000"/>
              </a:lnSpc>
              <a:defRPr sz="1200">
                <a:solidFill>
                  <a:srgbClr val="282828"/>
                </a:solidFill>
                <a:latin typeface="Arial"/>
              </a:defRPr>
            </a:pPr>
          </a:p>
          <a:p>
            <a:pPr>
              <a:lnSpc>
                <a:spcPct val="125000"/>
              </a:lnSpc>
              <a:defRPr sz="1200">
                <a:solidFill>
                  <a:srgbClr val="282828"/>
                </a:solidFill>
                <a:latin typeface="Arial"/>
              </a:defRPr>
            </a:pPr>
            <a:r>
              <a:t>• Tác vụ đảm nhận:</a:t>
            </a:r>
          </a:p>
          <a:p>
            <a:pPr>
              <a:lnSpc>
                <a:spcPct val="125000"/>
              </a:lnSpc>
              <a:defRPr sz="1200">
                <a:solidFill>
                  <a:srgbClr val="282828"/>
                </a:solidFill>
                <a:latin typeface="Arial"/>
              </a:defRPr>
            </a:pPr>
            <a:r>
              <a:t>  - Đọc ADC liên tục bằng phần cứng DMA (Mưa PA0, Dimmer PC1).</a:t>
            </a:r>
          </a:p>
          <a:p>
            <a:pPr>
              <a:lnSpc>
                <a:spcPct val="125000"/>
              </a:lnSpc>
              <a:defRPr sz="1200">
                <a:solidFill>
                  <a:srgbClr val="282828"/>
                </a:solidFill>
                <a:latin typeface="Arial"/>
              </a:defRPr>
            </a:pPr>
            <a:r>
              <a:t>  - Xuất 4 kênh PWM: Servo gạt mưa (TIM2), Bơm nước (TIM3), Pha/Cos (TIM4).</a:t>
            </a:r>
          </a:p>
          <a:p>
            <a:pPr>
              <a:lnSpc>
                <a:spcPct val="125000"/>
              </a:lnSpc>
              <a:defRPr sz="1200">
                <a:solidFill>
                  <a:srgbClr val="282828"/>
                </a:solidFill>
                <a:latin typeface="Arial"/>
              </a:defRPr>
            </a:pPr>
            <a:r>
              <a:t>  - Máy trạng thái gạt mưa 5 chế độ &amp; An toàn bơm nước cạn.</a:t>
            </a:r>
          </a:p>
          <a:p>
            <a:pPr>
              <a:lnSpc>
                <a:spcPct val="125000"/>
              </a:lnSpc>
              <a:defRPr sz="1200">
                <a:solidFill>
                  <a:srgbClr val="282828"/>
                </a:solidFill>
                <a:latin typeface="Arial"/>
              </a:defRPr>
            </a:pPr>
            <a:r>
              <a:t>  - Chống xung đột quang học đèn và tự động bật đèn sương mù.</a:t>
            </a:r>
          </a:p>
          <a:p>
            <a:pPr>
              <a:lnSpc>
                <a:spcPct val="125000"/>
              </a:lnSpc>
              <a:defRPr sz="1200">
                <a:solidFill>
                  <a:srgbClr val="282828"/>
                </a:solidFill>
                <a:latin typeface="Arial"/>
              </a:defRPr>
            </a:pPr>
            <a:r>
              <a:t>  - Giám sát Watchdog kẹt nút cơ học &gt; 1.5s sinh mã DTC.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r>
              <a:rPr sz="1000" b="1">
                <a:solidFill>
                  <a:srgbClr val="00A8CC"/>
                </a:solidFill>
                <a:latin typeface="Arial"/>
              </a:rPr>
              <a:t>FRONT BCM FIRMWARE | SOFTWARE DESIGN</a:t>
            </a:r>
          </a:p>
        </p:txBody>
      </p:sp>
      <p:sp>
        <p:nvSpPr>
          <p:cNvPr id="4" name="TextBox 3"/>
          <p:cNvSpPr txBox="1"/>
          <p:nvPr/>
        </p:nvSpPr>
        <p:spPr>
          <a:xfrm>
            <a:off x="731520" y="347472"/>
            <a:ext cx="10515600" cy="594360"/>
          </a:xfrm>
          <a:prstGeom prst="rect">
            <a:avLst/>
          </a:prstGeom>
          <a:noFill/>
        </p:spPr>
        <p:txBody>
          <a:bodyPr wrap="none">
            <a:spAutoFit/>
          </a:bodyPr>
          <a:lstStyle/>
          <a:p>
            <a:r>
              <a:rPr sz="2000" b="1">
                <a:solidFill>
                  <a:srgbClr val="FFFFFF"/>
                </a:solidFill>
                <a:latin typeface="Arial"/>
              </a:rPr>
              <a:t>3. MA TRẬN BẢN TIN CAN BUS V3.0 CỦA PHÂN HỆ FRONT BCM</a:t>
            </a:r>
          </a:p>
        </p:txBody>
      </p:sp>
      <p:graphicFrame>
        <p:nvGraphicFramePr>
          <p:cNvPr id="5" name="Table 4"/>
          <p:cNvGraphicFramePr>
            <a:graphicFrameLocks noGrp="1"/>
          </p:cNvGraphicFramePr>
          <p:nvPr/>
        </p:nvGraphicFramePr>
        <p:xfrm>
          <a:off x="731520" y="1371600"/>
          <a:ext cx="10728655" cy="4937760"/>
        </p:xfrm>
        <a:graphic>
          <a:graphicData uri="http://schemas.openxmlformats.org/drawingml/2006/table">
            <a:tbl>
              <a:tblPr firstRow="1" bandRow="1">
                <a:tableStyleId>{5C22544A-7EE6-4342-B048-85BDC9FD1C3A}</a:tableStyleId>
              </a:tblPr>
              <a:tblGrid>
                <a:gridCol w="2560320"/>
                <a:gridCol w="1097280"/>
                <a:gridCol w="1645920"/>
                <a:gridCol w="731520"/>
                <a:gridCol w="4693615"/>
              </a:tblGrid>
              <a:tr h="617220">
                <a:tc>
                  <a:txBody>
                    <a:bodyPr/>
                    <a:lstStyle/>
                    <a:p>
                      <a:pPr>
                        <a:defRPr sz="1000" b="1">
                          <a:solidFill>
                            <a:srgbClr val="FFFFFF"/>
                          </a:solidFill>
                          <a:latin typeface="Arial"/>
                        </a:defRPr>
                      </a:pPr>
                      <a:r>
                        <a:t>Tên Định Danh CAN</a:t>
                      </a:r>
                    </a:p>
                  </a:txBody>
                  <a:tcPr>
                    <a:solidFill>
                      <a:srgbClr val="0A2540"/>
                    </a:solidFill>
                  </a:tcPr>
                </a:tc>
                <a:tc>
                  <a:txBody>
                    <a:bodyPr/>
                    <a:lstStyle/>
                    <a:p>
                      <a:pPr>
                        <a:defRPr sz="1000" b="1">
                          <a:solidFill>
                            <a:srgbClr val="FFFFFF"/>
                          </a:solidFill>
                          <a:latin typeface="Arial"/>
                        </a:defRPr>
                      </a:pPr>
                      <a:r>
                        <a:t>CAN ID</a:t>
                      </a:r>
                    </a:p>
                  </a:txBody>
                  <a:tcPr>
                    <a:solidFill>
                      <a:srgbClr val="0A2540"/>
                    </a:solidFill>
                  </a:tcPr>
                </a:tc>
                <a:tc>
                  <a:txBody>
                    <a:bodyPr/>
                    <a:lstStyle/>
                    <a:p>
                      <a:pPr>
                        <a:defRPr sz="1000" b="1">
                          <a:solidFill>
                            <a:srgbClr val="FFFFFF"/>
                          </a:solidFill>
                          <a:latin typeface="Arial"/>
                        </a:defRPr>
                      </a:pPr>
                      <a:r>
                        <a:t>Hướng Truyền</a:t>
                      </a:r>
                    </a:p>
                  </a:txBody>
                  <a:tcPr>
                    <a:solidFill>
                      <a:srgbClr val="0A2540"/>
                    </a:solidFill>
                  </a:tcPr>
                </a:tc>
                <a:tc>
                  <a:txBody>
                    <a:bodyPr/>
                    <a:lstStyle/>
                    <a:p>
                      <a:pPr>
                        <a:defRPr sz="1000" b="1">
                          <a:solidFill>
                            <a:srgbClr val="FFFFFF"/>
                          </a:solidFill>
                          <a:latin typeface="Arial"/>
                        </a:defRPr>
                      </a:pPr>
                      <a:r>
                        <a:t>DLC</a:t>
                      </a:r>
                    </a:p>
                  </a:txBody>
                  <a:tcPr>
                    <a:solidFill>
                      <a:srgbClr val="0A2540"/>
                    </a:solidFill>
                  </a:tcPr>
                </a:tc>
                <a:tc>
                  <a:txBody>
                    <a:bodyPr/>
                    <a:lstStyle/>
                    <a:p>
                      <a:pPr>
                        <a:defRPr sz="1000" b="1">
                          <a:solidFill>
                            <a:srgbClr val="FFFFFF"/>
                          </a:solidFill>
                          <a:latin typeface="Arial"/>
                        </a:defRPr>
                      </a:pPr>
                      <a:r>
                        <a:t>Ý Nghĩa Tải Dữ Liệu (Payload Specification)</a:t>
                      </a:r>
                    </a:p>
                  </a:txBody>
                  <a:tcPr>
                    <a:solidFill>
                      <a:srgbClr val="0A2540"/>
                    </a:solidFill>
                  </a:tcPr>
                </a:tc>
              </a:tr>
              <a:tr h="617220">
                <a:tc>
                  <a:txBody>
                    <a:bodyPr/>
                    <a:lstStyle/>
                    <a:p>
                      <a:pPr>
                        <a:defRPr sz="950">
                          <a:solidFill>
                            <a:srgbClr val="282828"/>
                          </a:solidFill>
                          <a:latin typeface="Arial"/>
                        </a:defRPr>
                      </a:pPr>
                      <a:r>
                        <a:t>CAN_ID_EXEC_FRONT_LIGHTS</a:t>
                      </a:r>
                    </a:p>
                  </a:txBody>
                  <a:tcPr>
                    <a:solidFill>
                      <a:srgbClr val="F6F8FB"/>
                    </a:solidFill>
                  </a:tcPr>
                </a:tc>
                <a:tc>
                  <a:txBody>
                    <a:bodyPr/>
                    <a:lstStyle/>
                    <a:p>
                      <a:pPr>
                        <a:defRPr sz="950">
                          <a:solidFill>
                            <a:srgbClr val="282828"/>
                          </a:solidFill>
                          <a:latin typeface="Arial"/>
                        </a:defRPr>
                      </a:pPr>
                      <a:r>
                        <a:t>0x200</a:t>
                      </a:r>
                    </a:p>
                  </a:txBody>
                  <a:tcPr>
                    <a:solidFill>
                      <a:srgbClr val="F6F8FB"/>
                    </a:solidFill>
                  </a:tcPr>
                </a:tc>
                <a:tc>
                  <a:txBody>
                    <a:bodyPr/>
                    <a:lstStyle/>
                    <a:p>
                      <a:pPr>
                        <a:defRPr sz="950">
                          <a:solidFill>
                            <a:srgbClr val="282828"/>
                          </a:solidFill>
                          <a:latin typeface="Arial"/>
                        </a:defRPr>
                      </a:pPr>
                      <a:r>
                        <a:t>Central -&gt; Front</a:t>
                      </a:r>
                    </a:p>
                  </a:txBody>
                  <a:tcPr>
                    <a:solidFill>
                      <a:srgbClr val="F6F8FB"/>
                    </a:solidFill>
                  </a:tcPr>
                </a:tc>
                <a:tc>
                  <a:txBody>
                    <a:bodyPr/>
                    <a:lstStyle/>
                    <a:p>
                      <a:pPr>
                        <a:defRPr sz="950">
                          <a:solidFill>
                            <a:srgbClr val="282828"/>
                          </a:solidFill>
                          <a:latin typeface="Arial"/>
                        </a:defRPr>
                      </a:pPr>
                      <a:r>
                        <a:t>2</a:t>
                      </a:r>
                    </a:p>
                  </a:txBody>
                  <a:tcPr>
                    <a:solidFill>
                      <a:srgbClr val="F6F8FB"/>
                    </a:solidFill>
                  </a:tcPr>
                </a:tc>
                <a:tc>
                  <a:txBody>
                    <a:bodyPr/>
                    <a:lstStyle/>
                    <a:p>
                      <a:pPr>
                        <a:defRPr sz="950">
                          <a:solidFill>
                            <a:srgbClr val="282828"/>
                          </a:solidFill>
                          <a:latin typeface="Arial"/>
                        </a:defRPr>
                      </a:pPr>
                      <a:r>
                        <a:t>Byte0: Bitmask đèn (DRL/Cos/Pha/Fog) | Byte1: Độ sáng PWM 0-100%</a:t>
                      </a:r>
                    </a:p>
                  </a:txBody>
                  <a:tcPr>
                    <a:solidFill>
                      <a:srgbClr val="F6F8FB"/>
                    </a:solidFill>
                  </a:tcPr>
                </a:tc>
              </a:tr>
              <a:tr h="617220">
                <a:tc>
                  <a:txBody>
                    <a:bodyPr/>
                    <a:lstStyle/>
                    <a:p>
                      <a:pPr>
                        <a:defRPr sz="950">
                          <a:solidFill>
                            <a:srgbClr val="282828"/>
                          </a:solidFill>
                          <a:latin typeface="Arial"/>
                        </a:defRPr>
                      </a:pPr>
                      <a:r>
                        <a:t>CAN_ID_EXEC_FRONT_WIPERS</a:t>
                      </a:r>
                    </a:p>
                  </a:txBody>
                  <a:tcPr>
                    <a:solidFill>
                      <a:srgbClr val="FFFFFF"/>
                    </a:solidFill>
                  </a:tcPr>
                </a:tc>
                <a:tc>
                  <a:txBody>
                    <a:bodyPr/>
                    <a:lstStyle/>
                    <a:p>
                      <a:pPr>
                        <a:defRPr sz="950">
                          <a:solidFill>
                            <a:srgbClr val="282828"/>
                          </a:solidFill>
                          <a:latin typeface="Arial"/>
                        </a:defRPr>
                      </a:pPr>
                      <a:r>
                        <a:t>0x201</a:t>
                      </a:r>
                    </a:p>
                  </a:txBody>
                  <a:tcPr>
                    <a:solidFill>
                      <a:srgbClr val="FFFFFF"/>
                    </a:solidFill>
                  </a:tcPr>
                </a:tc>
                <a:tc>
                  <a:txBody>
                    <a:bodyPr/>
                    <a:lstStyle/>
                    <a:p>
                      <a:pPr>
                        <a:defRPr sz="950">
                          <a:solidFill>
                            <a:srgbClr val="282828"/>
                          </a:solidFill>
                          <a:latin typeface="Arial"/>
                        </a:defRPr>
                      </a:pPr>
                      <a:r>
                        <a:t>Central -&gt; Front</a:t>
                      </a:r>
                    </a:p>
                  </a:txBody>
                  <a:tcPr>
                    <a:solidFill>
                      <a:srgbClr val="FFFFFF"/>
                    </a:solidFill>
                  </a:tcPr>
                </a:tc>
                <a:tc>
                  <a:txBody>
                    <a:bodyPr/>
                    <a:lstStyle/>
                    <a:p>
                      <a:pPr>
                        <a:defRPr sz="950">
                          <a:solidFill>
                            <a:srgbClr val="282828"/>
                          </a:solidFill>
                          <a:latin typeface="Arial"/>
                        </a:defRPr>
                      </a:pPr>
                      <a:r>
                        <a:t>2</a:t>
                      </a:r>
                    </a:p>
                  </a:txBody>
                  <a:tcPr>
                    <a:solidFill>
                      <a:srgbClr val="FFFFFF"/>
                    </a:solidFill>
                  </a:tcPr>
                </a:tc>
                <a:tc>
                  <a:txBody>
                    <a:bodyPr/>
                    <a:lstStyle/>
                    <a:p>
                      <a:pPr>
                        <a:defRPr sz="950">
                          <a:solidFill>
                            <a:srgbClr val="282828"/>
                          </a:solidFill>
                          <a:latin typeface="Arial"/>
                        </a:defRPr>
                      </a:pPr>
                      <a:r>
                        <a:t>Byte0: CmdWiper_t (OFF/INT/SLOW/NORM/FAST/AUTO) | Byte1: Bơm nước</a:t>
                      </a:r>
                    </a:p>
                  </a:txBody>
                  <a:tcPr>
                    <a:solidFill>
                      <a:srgbClr val="FFFFFF"/>
                    </a:solidFill>
                  </a:tcPr>
                </a:tc>
              </a:tr>
              <a:tr h="617220">
                <a:tc>
                  <a:txBody>
                    <a:bodyPr/>
                    <a:lstStyle/>
                    <a:p>
                      <a:pPr>
                        <a:defRPr sz="950">
                          <a:solidFill>
                            <a:srgbClr val="282828"/>
                          </a:solidFill>
                          <a:latin typeface="Arial"/>
                        </a:defRPr>
                      </a:pPr>
                      <a:r>
                        <a:t>CAN_ID_EXEC_FRONT_TURN</a:t>
                      </a:r>
                    </a:p>
                  </a:txBody>
                  <a:tcPr>
                    <a:solidFill>
                      <a:srgbClr val="F6F8FB"/>
                    </a:solidFill>
                  </a:tcPr>
                </a:tc>
                <a:tc>
                  <a:txBody>
                    <a:bodyPr/>
                    <a:lstStyle/>
                    <a:p>
                      <a:pPr>
                        <a:defRPr sz="950">
                          <a:solidFill>
                            <a:srgbClr val="282828"/>
                          </a:solidFill>
                          <a:latin typeface="Arial"/>
                        </a:defRPr>
                      </a:pPr>
                      <a:r>
                        <a:t>0x202</a:t>
                      </a:r>
                    </a:p>
                  </a:txBody>
                  <a:tcPr>
                    <a:solidFill>
                      <a:srgbClr val="F6F8FB"/>
                    </a:solidFill>
                  </a:tcPr>
                </a:tc>
                <a:tc>
                  <a:txBody>
                    <a:bodyPr/>
                    <a:lstStyle/>
                    <a:p>
                      <a:pPr>
                        <a:defRPr sz="950">
                          <a:solidFill>
                            <a:srgbClr val="282828"/>
                          </a:solidFill>
                          <a:latin typeface="Arial"/>
                        </a:defRPr>
                      </a:pPr>
                      <a:r>
                        <a:t>Central -&gt; Front</a:t>
                      </a:r>
                    </a:p>
                  </a:txBody>
                  <a:tcPr>
                    <a:solidFill>
                      <a:srgbClr val="F6F8FB"/>
                    </a:solidFill>
                  </a:tcPr>
                </a:tc>
                <a:tc>
                  <a:txBody>
                    <a:bodyPr/>
                    <a:lstStyle/>
                    <a:p>
                      <a:pPr>
                        <a:defRPr sz="950">
                          <a:solidFill>
                            <a:srgbClr val="282828"/>
                          </a:solidFill>
                          <a:latin typeface="Arial"/>
                        </a:defRPr>
                      </a:pPr>
                      <a:r>
                        <a:t>1</a:t>
                      </a:r>
                    </a:p>
                  </a:txBody>
                  <a:tcPr>
                    <a:solidFill>
                      <a:srgbClr val="F6F8FB"/>
                    </a:solidFill>
                  </a:tcPr>
                </a:tc>
                <a:tc>
                  <a:txBody>
                    <a:bodyPr/>
                    <a:lstStyle/>
                    <a:p>
                      <a:pPr>
                        <a:defRPr sz="950">
                          <a:solidFill>
                            <a:srgbClr val="282828"/>
                          </a:solidFill>
                          <a:latin typeface="Arial"/>
                        </a:defRPr>
                      </a:pPr>
                      <a:r>
                        <a:t>Byte0: Bitmask vũ trang xi-nhan trước (Trái, Phải, Hazard)</a:t>
                      </a:r>
                    </a:p>
                  </a:txBody>
                  <a:tcPr>
                    <a:solidFill>
                      <a:srgbClr val="F6F8FB"/>
                    </a:solidFill>
                  </a:tcPr>
                </a:tc>
              </a:tr>
              <a:tr h="617220">
                <a:tc>
                  <a:txBody>
                    <a:bodyPr/>
                    <a:lstStyle/>
                    <a:p>
                      <a:pPr>
                        <a:defRPr sz="950">
                          <a:solidFill>
                            <a:srgbClr val="282828"/>
                          </a:solidFill>
                          <a:latin typeface="Arial"/>
                        </a:defRPr>
                      </a:pPr>
                      <a:r>
                        <a:t>CAN_ID_BLINK_TICK</a:t>
                      </a:r>
                    </a:p>
                  </a:txBody>
                  <a:tcPr>
                    <a:solidFill>
                      <a:srgbClr val="FFFFFF"/>
                    </a:solidFill>
                  </a:tcPr>
                </a:tc>
                <a:tc>
                  <a:txBody>
                    <a:bodyPr/>
                    <a:lstStyle/>
                    <a:p>
                      <a:pPr>
                        <a:defRPr sz="950">
                          <a:solidFill>
                            <a:srgbClr val="282828"/>
                          </a:solidFill>
                          <a:latin typeface="Arial"/>
                        </a:defRPr>
                      </a:pPr>
                      <a:r>
                        <a:t>0x130</a:t>
                      </a:r>
                    </a:p>
                  </a:txBody>
                  <a:tcPr>
                    <a:solidFill>
                      <a:srgbClr val="FFFFFF"/>
                    </a:solidFill>
                  </a:tcPr>
                </a:tc>
                <a:tc>
                  <a:txBody>
                    <a:bodyPr/>
                    <a:lstStyle/>
                    <a:p>
                      <a:pPr>
                        <a:defRPr sz="950">
                          <a:solidFill>
                            <a:srgbClr val="282828"/>
                          </a:solidFill>
                          <a:latin typeface="Arial"/>
                        </a:defRPr>
                      </a:pPr>
                      <a:r>
                        <a:t>Central -&gt; All</a:t>
                      </a:r>
                    </a:p>
                  </a:txBody>
                  <a:tcPr>
                    <a:solidFill>
                      <a:srgbClr val="FFFFFF"/>
                    </a:solidFill>
                  </a:tcPr>
                </a:tc>
                <a:tc>
                  <a:txBody>
                    <a:bodyPr/>
                    <a:lstStyle/>
                    <a:p>
                      <a:pPr>
                        <a:defRPr sz="950">
                          <a:solidFill>
                            <a:srgbClr val="282828"/>
                          </a:solidFill>
                          <a:latin typeface="Arial"/>
                        </a:defRPr>
                      </a:pPr>
                      <a:r>
                        <a:t>1</a:t>
                      </a:r>
                    </a:p>
                  </a:txBody>
                  <a:tcPr>
                    <a:solidFill>
                      <a:srgbClr val="FFFFFF"/>
                    </a:solidFill>
                  </a:tcPr>
                </a:tc>
                <a:tc>
                  <a:txBody>
                    <a:bodyPr/>
                    <a:lstStyle/>
                    <a:p>
                      <a:pPr>
                        <a:defRPr sz="950">
                          <a:solidFill>
                            <a:srgbClr val="282828"/>
                          </a:solidFill>
                          <a:latin typeface="Arial"/>
                        </a:defRPr>
                      </a:pPr>
                      <a:r>
                        <a:t>Byte0: 0x01 — Nhịp đồng hồ chớp 1 Hz toàn cục phát mỗi 500 ms</a:t>
                      </a:r>
                    </a:p>
                  </a:txBody>
                  <a:tcPr>
                    <a:solidFill>
                      <a:srgbClr val="FFFFFF"/>
                    </a:solidFill>
                  </a:tcPr>
                </a:tc>
              </a:tr>
              <a:tr h="617220">
                <a:tc>
                  <a:txBody>
                    <a:bodyPr/>
                    <a:lstStyle/>
                    <a:p>
                      <a:pPr>
                        <a:defRPr sz="950">
                          <a:solidFill>
                            <a:srgbClr val="282828"/>
                          </a:solidFill>
                          <a:latin typeface="Arial"/>
                        </a:defRPr>
                      </a:pPr>
                      <a:r>
                        <a:t>CAN_ID_REPORT_FRONT_STATUS</a:t>
                      </a:r>
                    </a:p>
                  </a:txBody>
                  <a:tcPr>
                    <a:solidFill>
                      <a:srgbClr val="F6F8FB"/>
                    </a:solidFill>
                  </a:tcPr>
                </a:tc>
                <a:tc>
                  <a:txBody>
                    <a:bodyPr/>
                    <a:lstStyle/>
                    <a:p>
                      <a:pPr>
                        <a:defRPr sz="950">
                          <a:solidFill>
                            <a:srgbClr val="282828"/>
                          </a:solidFill>
                          <a:latin typeface="Arial"/>
                        </a:defRPr>
                      </a:pPr>
                      <a:r>
                        <a:t>0x400</a:t>
                      </a:r>
                    </a:p>
                  </a:txBody>
                  <a:tcPr>
                    <a:solidFill>
                      <a:srgbClr val="F6F8FB"/>
                    </a:solidFill>
                  </a:tcPr>
                </a:tc>
                <a:tc>
                  <a:txBody>
                    <a:bodyPr/>
                    <a:lstStyle/>
                    <a:p>
                      <a:pPr>
                        <a:defRPr sz="950">
                          <a:solidFill>
                            <a:srgbClr val="282828"/>
                          </a:solidFill>
                          <a:latin typeface="Arial"/>
                        </a:defRPr>
                      </a:pPr>
                      <a:r>
                        <a:t>Front -&gt; Central</a:t>
                      </a:r>
                    </a:p>
                  </a:txBody>
                  <a:tcPr>
                    <a:solidFill>
                      <a:srgbClr val="F6F8FB"/>
                    </a:solidFill>
                  </a:tcPr>
                </a:tc>
                <a:tc>
                  <a:txBody>
                    <a:bodyPr/>
                    <a:lstStyle/>
                    <a:p>
                      <a:pPr>
                        <a:defRPr sz="950">
                          <a:solidFill>
                            <a:srgbClr val="282828"/>
                          </a:solidFill>
                          <a:latin typeface="Arial"/>
                        </a:defRPr>
                      </a:pPr>
                      <a:r>
                        <a:t>3</a:t>
                      </a:r>
                    </a:p>
                  </a:txBody>
                  <a:tcPr>
                    <a:solidFill>
                      <a:srgbClr val="F6F8FB"/>
                    </a:solidFill>
                  </a:tcPr>
                </a:tc>
                <a:tc>
                  <a:txBody>
                    <a:bodyPr/>
                    <a:lstStyle/>
                    <a:p>
                      <a:pPr>
                        <a:defRPr sz="950">
                          <a:solidFill>
                            <a:srgbClr val="282828"/>
                          </a:solidFill>
                          <a:latin typeface="Arial"/>
                        </a:defRPr>
                      </a:pPr>
                      <a:r>
                        <a:t>Byte0: FrontActuatorFlags_t | Byte1: WiperMode | Byte2: Health mô-tơ</a:t>
                      </a:r>
                    </a:p>
                  </a:txBody>
                  <a:tcPr>
                    <a:solidFill>
                      <a:srgbClr val="F6F8FB"/>
                    </a:solidFill>
                  </a:tcPr>
                </a:tc>
              </a:tr>
              <a:tr h="617220">
                <a:tc>
                  <a:txBody>
                    <a:bodyPr/>
                    <a:lstStyle/>
                    <a:p>
                      <a:pPr>
                        <a:defRPr sz="950">
                          <a:solidFill>
                            <a:srgbClr val="282828"/>
                          </a:solidFill>
                          <a:latin typeface="Arial"/>
                        </a:defRPr>
                      </a:pPr>
                      <a:r>
                        <a:t>CAN_ID_REPORT_FRONT_SENSORS</a:t>
                      </a:r>
                    </a:p>
                  </a:txBody>
                  <a:tcPr>
                    <a:solidFill>
                      <a:srgbClr val="FFFFFF"/>
                    </a:solidFill>
                  </a:tcPr>
                </a:tc>
                <a:tc>
                  <a:txBody>
                    <a:bodyPr/>
                    <a:lstStyle/>
                    <a:p>
                      <a:pPr>
                        <a:defRPr sz="950">
                          <a:solidFill>
                            <a:srgbClr val="282828"/>
                          </a:solidFill>
                          <a:latin typeface="Arial"/>
                        </a:defRPr>
                      </a:pPr>
                      <a:r>
                        <a:t>0x401</a:t>
                      </a:r>
                    </a:p>
                  </a:txBody>
                  <a:tcPr>
                    <a:solidFill>
                      <a:srgbClr val="FFFFFF"/>
                    </a:solidFill>
                  </a:tcPr>
                </a:tc>
                <a:tc>
                  <a:txBody>
                    <a:bodyPr/>
                    <a:lstStyle/>
                    <a:p>
                      <a:pPr>
                        <a:defRPr sz="950">
                          <a:solidFill>
                            <a:srgbClr val="282828"/>
                          </a:solidFill>
                          <a:latin typeface="Arial"/>
                        </a:defRPr>
                      </a:pPr>
                      <a:r>
                        <a:t>Front -&gt; Central</a:t>
                      </a:r>
                    </a:p>
                  </a:txBody>
                  <a:tcPr>
                    <a:solidFill>
                      <a:srgbClr val="FFFFFF"/>
                    </a:solidFill>
                  </a:tcPr>
                </a:tc>
                <a:tc>
                  <a:txBody>
                    <a:bodyPr/>
                    <a:lstStyle/>
                    <a:p>
                      <a:pPr>
                        <a:defRPr sz="950">
                          <a:solidFill>
                            <a:srgbClr val="282828"/>
                          </a:solidFill>
                          <a:latin typeface="Arial"/>
                        </a:defRPr>
                      </a:pPr>
                      <a:r>
                        <a:t>2</a:t>
                      </a:r>
                    </a:p>
                  </a:txBody>
                  <a:tcPr>
                    <a:solidFill>
                      <a:srgbClr val="FFFFFF"/>
                    </a:solidFill>
                  </a:tcPr>
                </a:tc>
                <a:tc>
                  <a:txBody>
                    <a:bodyPr/>
                    <a:lstStyle/>
                    <a:p>
                      <a:pPr>
                        <a:defRPr sz="950">
                          <a:solidFill>
                            <a:srgbClr val="282828"/>
                          </a:solidFill>
                          <a:latin typeface="Arial"/>
                        </a:defRPr>
                      </a:pPr>
                      <a:r>
                        <a:t>Byte0: Cảm biến mưa % (ADC) | Byte1: Mức nước rửa kính % (Phao PE9)</a:t>
                      </a:r>
                    </a:p>
                  </a:txBody>
                  <a:tcPr>
                    <a:solidFill>
                      <a:srgbClr val="FFFFFF"/>
                    </a:solidFill>
                  </a:tcPr>
                </a:tc>
              </a:tr>
              <a:tr h="617220">
                <a:tc>
                  <a:txBody>
                    <a:bodyPr/>
                    <a:lstStyle/>
                    <a:p>
                      <a:pPr>
                        <a:defRPr sz="950">
                          <a:solidFill>
                            <a:srgbClr val="282828"/>
                          </a:solidFill>
                          <a:latin typeface="Arial"/>
                        </a:defRPr>
                      </a:pPr>
                      <a:r>
                        <a:t>CAN_ID_FAULT_FRONT_BCM</a:t>
                      </a:r>
                    </a:p>
                  </a:txBody>
                  <a:tcPr>
                    <a:solidFill>
                      <a:srgbClr val="F6F8FB"/>
                    </a:solidFill>
                  </a:tcPr>
                </a:tc>
                <a:tc>
                  <a:txBody>
                    <a:bodyPr/>
                    <a:lstStyle/>
                    <a:p>
                      <a:pPr>
                        <a:defRPr sz="950">
                          <a:solidFill>
                            <a:srgbClr val="282828"/>
                          </a:solidFill>
                          <a:latin typeface="Arial"/>
                        </a:defRPr>
                      </a:pPr>
                      <a:r>
                        <a:t>0x500</a:t>
                      </a:r>
                    </a:p>
                  </a:txBody>
                  <a:tcPr>
                    <a:solidFill>
                      <a:srgbClr val="F6F8FB"/>
                    </a:solidFill>
                  </a:tcPr>
                </a:tc>
                <a:tc>
                  <a:txBody>
                    <a:bodyPr/>
                    <a:lstStyle/>
                    <a:p>
                      <a:pPr>
                        <a:defRPr sz="950">
                          <a:solidFill>
                            <a:srgbClr val="282828"/>
                          </a:solidFill>
                          <a:latin typeface="Arial"/>
                        </a:defRPr>
                      </a:pPr>
                      <a:r>
                        <a:t>Front -&gt; Central</a:t>
                      </a:r>
                    </a:p>
                  </a:txBody>
                  <a:tcPr>
                    <a:solidFill>
                      <a:srgbClr val="F6F8FB"/>
                    </a:solidFill>
                  </a:tcPr>
                </a:tc>
                <a:tc>
                  <a:txBody>
                    <a:bodyPr/>
                    <a:lstStyle/>
                    <a:p>
                      <a:pPr>
                        <a:defRPr sz="950">
                          <a:solidFill>
                            <a:srgbClr val="282828"/>
                          </a:solidFill>
                          <a:latin typeface="Arial"/>
                        </a:defRPr>
                      </a:pPr>
                      <a:r>
                        <a:t>5</a:t>
                      </a:r>
                    </a:p>
                  </a:txBody>
                  <a:tcPr>
                    <a:solidFill>
                      <a:srgbClr val="F6F8FB"/>
                    </a:solidFill>
                  </a:tcPr>
                </a:tc>
                <a:tc>
                  <a:txBody>
                    <a:bodyPr/>
                    <a:lstStyle/>
                    <a:p>
                      <a:pPr>
                        <a:defRPr sz="950">
                          <a:solidFill>
                            <a:srgbClr val="282828"/>
                          </a:solidFill>
                          <a:latin typeface="Arial"/>
                        </a:defRPr>
                      </a:pPr>
                      <a:r>
                        <a:t>Byte0: Severity | Byte1-2: Mã DTC 16-bit | Byte3: Counter | Byte4: ErrCode</a:t>
                      </a:r>
                    </a:p>
                  </a:txBody>
                  <a:tcPr>
                    <a:solidFill>
                      <a:srgbClr val="F6F8FB"/>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r>
              <a:rPr sz="1000" b="1">
                <a:solidFill>
                  <a:srgbClr val="00A8CC"/>
                </a:solidFill>
                <a:latin typeface="Arial"/>
              </a:rPr>
              <a:t>FRONT BCM FIRMWARE | SOFTWARE DESIGN</a:t>
            </a:r>
          </a:p>
        </p:txBody>
      </p:sp>
      <p:sp>
        <p:nvSpPr>
          <p:cNvPr id="4" name="TextBox 3"/>
          <p:cNvSpPr txBox="1"/>
          <p:nvPr/>
        </p:nvSpPr>
        <p:spPr>
          <a:xfrm>
            <a:off x="731520" y="347472"/>
            <a:ext cx="10515600" cy="594360"/>
          </a:xfrm>
          <a:prstGeom prst="rect">
            <a:avLst/>
          </a:prstGeom>
          <a:noFill/>
        </p:spPr>
        <p:txBody>
          <a:bodyPr wrap="none">
            <a:spAutoFit/>
          </a:bodyPr>
          <a:lstStyle/>
          <a:p>
            <a:r>
              <a:rPr sz="2000" b="1">
                <a:solidFill>
                  <a:srgbClr val="FFFFFF"/>
                </a:solidFill>
                <a:latin typeface="Arial"/>
              </a:rPr>
              <a:t>4. GIAO THỨC UART NỘI BỘ &amp; GIẢI THUẬT CHỐNG TRÔI KHUNG (ANTI-DESYNC)</a:t>
            </a:r>
          </a:p>
        </p:txBody>
      </p:sp>
      <p:sp>
        <p:nvSpPr>
          <p:cNvPr id="5" name="Rounded Rectangle 4"/>
          <p:cNvSpPr/>
          <p:nvPr/>
        </p:nvSpPr>
        <p:spPr>
          <a:xfrm>
            <a:off x="731520" y="1371600"/>
            <a:ext cx="5120640" cy="4937760"/>
          </a:xfrm>
          <a:prstGeom prst="roundRect">
            <a:avLst/>
          </a:prstGeom>
          <a:solidFill>
            <a:srgbClr val="FFFFFF"/>
          </a:solidFill>
          <a:ln w="1524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4754880" cy="411480"/>
          </a:xfrm>
          <a:prstGeom prst="rect">
            <a:avLst/>
          </a:prstGeom>
          <a:noFill/>
        </p:spPr>
        <p:txBody>
          <a:bodyPr wrap="none">
            <a:spAutoFit/>
          </a:bodyPr>
          <a:lstStyle/>
          <a:p>
            <a:r>
              <a:rPr sz="1300" b="1">
                <a:solidFill>
                  <a:srgbClr val="0066CC"/>
                </a:solidFill>
                <a:latin typeface="Arial"/>
              </a:rPr>
              <a:t>CẤU TRÚC KHUNG TRUYỀN ĐỒNG BỘ 5-BYTE</a:t>
            </a:r>
          </a:p>
        </p:txBody>
      </p:sp>
      <p:sp>
        <p:nvSpPr>
          <p:cNvPr id="7" name="TextBox 6"/>
          <p:cNvSpPr txBox="1"/>
          <p:nvPr/>
        </p:nvSpPr>
        <p:spPr>
          <a:xfrm>
            <a:off x="914400" y="1920240"/>
            <a:ext cx="4754880" cy="4206240"/>
          </a:xfrm>
          <a:prstGeom prst="rect">
            <a:avLst/>
          </a:prstGeom>
          <a:noFill/>
        </p:spPr>
        <p:txBody>
          <a:bodyPr wrap="square">
            <a:spAutoFit/>
          </a:bodyPr>
          <a:lstStyle/>
          <a:p>
            <a:pPr>
              <a:lnSpc>
                <a:spcPct val="125000"/>
              </a:lnSpc>
              <a:defRPr sz="1150">
                <a:solidFill>
                  <a:srgbClr val="282828"/>
                </a:solidFill>
                <a:latin typeface="Arial"/>
              </a:defRPr>
            </a:pPr>
            <a:r>
              <a:t>• Định dạng khung (F103 -&gt; F411):</a:t>
            </a:r>
          </a:p>
          <a:p>
            <a:pPr>
              <a:lnSpc>
                <a:spcPct val="125000"/>
              </a:lnSpc>
              <a:defRPr sz="1150">
                <a:solidFill>
                  <a:srgbClr val="282828"/>
                </a:solidFill>
                <a:latin typeface="Arial"/>
              </a:defRPr>
            </a:pPr>
            <a:r>
              <a:t>  [0xAA] [CMD_ID] [DATA_0] [DATA_1] [CHECKSUM]</a:t>
            </a:r>
          </a:p>
          <a:p>
            <a:pPr>
              <a:lnSpc>
                <a:spcPct val="125000"/>
              </a:lnSpc>
              <a:defRPr sz="1150">
                <a:solidFill>
                  <a:srgbClr val="282828"/>
                </a:solidFill>
                <a:latin typeface="Arial"/>
              </a:defRPr>
            </a:pPr>
          </a:p>
          <a:p>
            <a:pPr>
              <a:lnSpc>
                <a:spcPct val="125000"/>
              </a:lnSpc>
              <a:defRPr sz="1150">
                <a:solidFill>
                  <a:srgbClr val="282828"/>
                </a:solidFill>
                <a:latin typeface="Arial"/>
              </a:defRPr>
            </a:pPr>
            <a:r>
              <a:t>• Thuật toán Checksum tuyến tính:</a:t>
            </a:r>
          </a:p>
          <a:p>
            <a:pPr>
              <a:lnSpc>
                <a:spcPct val="125000"/>
              </a:lnSpc>
              <a:defRPr sz="1150">
                <a:solidFill>
                  <a:srgbClr val="282828"/>
                </a:solidFill>
                <a:latin typeface="Arial"/>
              </a:defRPr>
            </a:pPr>
            <a:r>
              <a:t>  Checksum = (uint8_t)(CMD_ID + DATA_0 + DATA_1);</a:t>
            </a:r>
          </a:p>
          <a:p>
            <a:pPr>
              <a:lnSpc>
                <a:spcPct val="125000"/>
              </a:lnSpc>
              <a:defRPr sz="1150">
                <a:solidFill>
                  <a:srgbClr val="282828"/>
                </a:solidFill>
                <a:latin typeface="Arial"/>
              </a:defRPr>
            </a:pPr>
            <a:r>
              <a:t>  Gói tin sai lệch Checksum bị hủy ngay tại tầng ngắt.</a:t>
            </a:r>
          </a:p>
          <a:p>
            <a:pPr>
              <a:lnSpc>
                <a:spcPct val="125000"/>
              </a:lnSpc>
              <a:defRPr sz="1150">
                <a:solidFill>
                  <a:srgbClr val="282828"/>
                </a:solidFill>
                <a:latin typeface="Arial"/>
              </a:defRPr>
            </a:pPr>
          </a:p>
          <a:p>
            <a:pPr>
              <a:lnSpc>
                <a:spcPct val="125000"/>
              </a:lnSpc>
              <a:defRPr sz="1150">
                <a:solidFill>
                  <a:srgbClr val="282828"/>
                </a:solidFill>
                <a:latin typeface="Arial"/>
              </a:defRPr>
            </a:pPr>
            <a:r>
              <a:t>• Phân loại lệnh điều khiển:</a:t>
            </a:r>
          </a:p>
          <a:p>
            <a:pPr>
              <a:lnSpc>
                <a:spcPct val="125000"/>
              </a:lnSpc>
              <a:defRPr sz="1150">
                <a:solidFill>
                  <a:srgbClr val="282828"/>
                </a:solidFill>
                <a:latin typeface="Arial"/>
              </a:defRPr>
            </a:pPr>
            <a:r>
              <a:t>  - 0x01: Điều khiển đèn (Mask + Brightness)</a:t>
            </a:r>
          </a:p>
          <a:p>
            <a:pPr>
              <a:lnSpc>
                <a:spcPct val="125000"/>
              </a:lnSpc>
              <a:defRPr sz="1150">
                <a:solidFill>
                  <a:srgbClr val="282828"/>
                </a:solidFill>
                <a:latin typeface="Arial"/>
              </a:defRPr>
            </a:pPr>
            <a:r>
              <a:t>  - 0x02: Gạt mưa &amp; Rửa kính (Mode + Washer)</a:t>
            </a:r>
          </a:p>
          <a:p>
            <a:pPr>
              <a:lnSpc>
                <a:spcPct val="125000"/>
              </a:lnSpc>
              <a:defRPr sz="1150">
                <a:solidFill>
                  <a:srgbClr val="282828"/>
                </a:solidFill>
                <a:latin typeface="Arial"/>
              </a:defRPr>
            </a:pPr>
            <a:r>
              <a:t>  - 0x03: Xi-nhan vũ trang (Turn Arm)</a:t>
            </a:r>
          </a:p>
          <a:p>
            <a:pPr>
              <a:lnSpc>
                <a:spcPct val="125000"/>
              </a:lnSpc>
              <a:defRPr sz="1150">
                <a:solidFill>
                  <a:srgbClr val="282828"/>
                </a:solidFill>
                <a:latin typeface="Arial"/>
              </a:defRPr>
            </a:pPr>
            <a:r>
              <a:t>  - 0x04: Nhịp đồng hồ chớp Blink Tick (0x130)</a:t>
            </a:r>
          </a:p>
        </p:txBody>
      </p:sp>
      <p:sp>
        <p:nvSpPr>
          <p:cNvPr id="8" name="Rounded Rectangle 7"/>
          <p:cNvSpPr/>
          <p:nvPr/>
        </p:nvSpPr>
        <p:spPr>
          <a:xfrm>
            <a:off x="6217920" y="1371600"/>
            <a:ext cx="5212080" cy="4937760"/>
          </a:xfrm>
          <a:prstGeom prst="roundRect">
            <a:avLst/>
          </a:prstGeom>
          <a:solidFill>
            <a:srgbClr val="FFFFFF"/>
          </a:solidFill>
          <a:ln w="1524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08760"/>
            <a:ext cx="4846320" cy="411480"/>
          </a:xfrm>
          <a:prstGeom prst="rect">
            <a:avLst/>
          </a:prstGeom>
          <a:noFill/>
        </p:spPr>
        <p:txBody>
          <a:bodyPr wrap="none">
            <a:spAutoFit/>
          </a:bodyPr>
          <a:lstStyle/>
          <a:p>
            <a:r>
              <a:rPr sz="1300" b="1">
                <a:solidFill>
                  <a:srgbClr val="0A2540"/>
                </a:solidFill>
                <a:latin typeface="Arial"/>
              </a:rPr>
              <a:t>GIẢI THUẬT TIMEOUT 25MS CHỐNG TRÔI KHUNG</a:t>
            </a:r>
          </a:p>
        </p:txBody>
      </p:sp>
      <p:sp>
        <p:nvSpPr>
          <p:cNvPr id="10" name="TextBox 9"/>
          <p:cNvSpPr txBox="1"/>
          <p:nvPr/>
        </p:nvSpPr>
        <p:spPr>
          <a:xfrm>
            <a:off x="6400800" y="1920240"/>
            <a:ext cx="4846320" cy="4206240"/>
          </a:xfrm>
          <a:prstGeom prst="rect">
            <a:avLst/>
          </a:prstGeom>
          <a:noFill/>
        </p:spPr>
        <p:txBody>
          <a:bodyPr wrap="square">
            <a:spAutoFit/>
          </a:bodyPr>
          <a:lstStyle/>
          <a:p>
            <a:pPr>
              <a:lnSpc>
                <a:spcPct val="120000"/>
              </a:lnSpc>
              <a:defRPr sz="1100">
                <a:solidFill>
                  <a:srgbClr val="282828"/>
                </a:solidFill>
                <a:latin typeface="Arial"/>
              </a:defRPr>
            </a:pPr>
            <a:r>
              <a:t>• Vấn đề kinh điển của UART: Desynchronization</a:t>
            </a:r>
          </a:p>
          <a:p>
            <a:pPr>
              <a:lnSpc>
                <a:spcPct val="120000"/>
              </a:lnSpc>
              <a:defRPr sz="1100">
                <a:solidFill>
                  <a:srgbClr val="282828"/>
                </a:solidFill>
                <a:latin typeface="Arial"/>
              </a:defRPr>
            </a:pPr>
            <a:r>
              <a:t>  Nếu mất 1 byte do nhiễu, các gói tin tiếp theo sẽ bị xô lệch vĩnh viễn do MCU lấy nhầm Data làm Start Byte.</a:t>
            </a:r>
          </a:p>
          <a:p>
            <a:pPr>
              <a:lnSpc>
                <a:spcPct val="120000"/>
              </a:lnSpc>
              <a:defRPr sz="1100">
                <a:solidFill>
                  <a:srgbClr val="282828"/>
                </a:solidFill>
                <a:latin typeface="Arial"/>
              </a:defRPr>
            </a:pPr>
          </a:p>
          <a:p>
            <a:pPr>
              <a:lnSpc>
                <a:spcPct val="120000"/>
              </a:lnSpc>
              <a:defRPr sz="1100">
                <a:solidFill>
                  <a:srgbClr val="282828"/>
                </a:solidFill>
                <a:latin typeface="Arial"/>
              </a:defRPr>
            </a:pPr>
            <a:r>
              <a:t>• Giải pháp: Inter-Byte Software Watchdog 25ms</a:t>
            </a:r>
          </a:p>
          <a:p>
            <a:pPr>
              <a:lnSpc>
                <a:spcPct val="120000"/>
              </a:lnSpc>
              <a:defRPr sz="1100">
                <a:solidFill>
                  <a:srgbClr val="282828"/>
                </a:solidFill>
                <a:latin typeface="Arial"/>
              </a:defRPr>
            </a:pPr>
            <a:r>
              <a:t>  uint32_t current_time = HAL_GetTick();</a:t>
            </a:r>
          </a:p>
          <a:p>
            <a:pPr>
              <a:lnSpc>
                <a:spcPct val="120000"/>
              </a:lnSpc>
              <a:defRPr sz="1100">
                <a:solidFill>
                  <a:srgbClr val="282828"/>
                </a:solidFill>
                <a:latin typeface="Arial"/>
              </a:defRPr>
            </a:pPr>
            <a:r>
              <a:t>  if (current_time - last_rx_time &gt; 25) {</a:t>
            </a:r>
          </a:p>
          <a:p>
            <a:pPr>
              <a:lnSpc>
                <a:spcPct val="120000"/>
              </a:lnSpc>
              <a:defRPr sz="1100">
                <a:solidFill>
                  <a:srgbClr val="282828"/>
                </a:solidFill>
                <a:latin typeface="Arial"/>
              </a:defRPr>
            </a:pPr>
            <a:r>
              <a:t>      rx_index = 0; // Tự động Reset bộ đệm</a:t>
            </a:r>
          </a:p>
          <a:p>
            <a:pPr>
              <a:lnSpc>
                <a:spcPct val="120000"/>
              </a:lnSpc>
              <a:defRPr sz="1100">
                <a:solidFill>
                  <a:srgbClr val="282828"/>
                </a:solidFill>
                <a:latin typeface="Arial"/>
              </a:defRPr>
            </a:pPr>
            <a:r>
              <a:t>  }</a:t>
            </a:r>
          </a:p>
          <a:p>
            <a:pPr>
              <a:lnSpc>
                <a:spcPct val="120000"/>
              </a:lnSpc>
              <a:defRPr sz="1100">
                <a:solidFill>
                  <a:srgbClr val="282828"/>
                </a:solidFill>
                <a:latin typeface="Arial"/>
              </a:defRPr>
            </a:pPr>
            <a:r>
              <a:t>  last_rx_time = current_time;</a:t>
            </a:r>
          </a:p>
          <a:p>
            <a:pPr>
              <a:lnSpc>
                <a:spcPct val="120000"/>
              </a:lnSpc>
              <a:defRPr sz="1100">
                <a:solidFill>
                  <a:srgbClr val="282828"/>
                </a:solidFill>
                <a:latin typeface="Arial"/>
              </a:defRPr>
            </a:pPr>
          </a:p>
          <a:p>
            <a:pPr>
              <a:lnSpc>
                <a:spcPct val="120000"/>
              </a:lnSpc>
              <a:defRPr sz="1100">
                <a:solidFill>
                  <a:srgbClr val="282828"/>
                </a:solidFill>
                <a:latin typeface="Arial"/>
              </a:defRPr>
            </a:pPr>
            <a:r>
              <a:t>• Tự giải phóng lỗi phần cứng Overrun:</a:t>
            </a:r>
          </a:p>
          <a:p>
            <a:pPr>
              <a:lnSpc>
                <a:spcPct val="120000"/>
              </a:lnSpc>
              <a:defRPr sz="1100">
                <a:solidFill>
                  <a:srgbClr val="282828"/>
                </a:solidFill>
                <a:latin typeface="Arial"/>
              </a:defRPr>
            </a:pPr>
            <a:r>
              <a:t>  if (__HAL_UART_GET_FLAG(pUart, UART_FLAG_ORE)) {</a:t>
            </a:r>
          </a:p>
          <a:p>
            <a:pPr>
              <a:lnSpc>
                <a:spcPct val="120000"/>
              </a:lnSpc>
              <a:defRPr sz="1100">
                <a:solidFill>
                  <a:srgbClr val="282828"/>
                </a:solidFill>
                <a:latin typeface="Arial"/>
              </a:defRPr>
            </a:pPr>
            <a:r>
              <a:t>      __HAL_UART_CLEAR_OREFLAG(pUart);</a:t>
            </a:r>
          </a:p>
          <a:p>
            <a:pPr>
              <a:lnSpc>
                <a:spcPct val="120000"/>
              </a:lnSpc>
              <a:defRPr sz="1100">
                <a:solidFill>
                  <a:srgbClr val="282828"/>
                </a:solidFill>
                <a:latin typeface="Arial"/>
              </a:defRPr>
            </a:pPr>
            <a:r>
              <a:t>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r>
              <a:rPr sz="1000" b="1">
                <a:solidFill>
                  <a:srgbClr val="00A8CC"/>
                </a:solidFill>
                <a:latin typeface="Arial"/>
              </a:rPr>
              <a:t>FRONT BCM FIRMWARE | SOFTWARE DESIGN</a:t>
            </a:r>
          </a:p>
        </p:txBody>
      </p:sp>
      <p:sp>
        <p:nvSpPr>
          <p:cNvPr id="4" name="TextBox 3"/>
          <p:cNvSpPr txBox="1"/>
          <p:nvPr/>
        </p:nvSpPr>
        <p:spPr>
          <a:xfrm>
            <a:off x="731520" y="347472"/>
            <a:ext cx="10515600" cy="594360"/>
          </a:xfrm>
          <a:prstGeom prst="rect">
            <a:avLst/>
          </a:prstGeom>
          <a:noFill/>
        </p:spPr>
        <p:txBody>
          <a:bodyPr wrap="none">
            <a:spAutoFit/>
          </a:bodyPr>
          <a:lstStyle/>
          <a:p>
            <a:r>
              <a:rPr sz="2000" b="1">
                <a:solidFill>
                  <a:srgbClr val="FFFFFF"/>
                </a:solidFill>
                <a:latin typeface="Arial"/>
              </a:rPr>
              <a:t>5. TRANSLATOR NODE (F103) — THUẬT TOÁN CHANGE-DETECTION (SHADOW COPIES)</a:t>
            </a:r>
          </a:p>
        </p:txBody>
      </p:sp>
      <p:sp>
        <p:nvSpPr>
          <p:cNvPr id="5" name="Rounded Rectangle 4"/>
          <p:cNvSpPr/>
          <p:nvPr/>
        </p:nvSpPr>
        <p:spPr>
          <a:xfrm>
            <a:off x="731520" y="1371600"/>
            <a:ext cx="5120640" cy="4937760"/>
          </a:xfrm>
          <a:prstGeom prst="roundRect">
            <a:avLst/>
          </a:prstGeom>
          <a:solidFill>
            <a:srgbClr val="FFFFFF"/>
          </a:solidFill>
          <a:ln w="1524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4754880" cy="411480"/>
          </a:xfrm>
          <a:prstGeom prst="rect">
            <a:avLst/>
          </a:prstGeom>
          <a:noFill/>
        </p:spPr>
        <p:txBody>
          <a:bodyPr wrap="none">
            <a:spAutoFit/>
          </a:bodyPr>
          <a:lstStyle/>
          <a:p>
            <a:r>
              <a:rPr sz="1300" b="1">
                <a:solidFill>
                  <a:srgbClr val="DC2626"/>
                </a:solidFill>
                <a:latin typeface="Arial"/>
              </a:rPr>
              <a:t>BÀI TOÁN NGHẼN CỔ CHAI BĂNG THÔNG</a:t>
            </a:r>
          </a:p>
        </p:txBody>
      </p:sp>
      <p:sp>
        <p:nvSpPr>
          <p:cNvPr id="7" name="TextBox 6"/>
          <p:cNvSpPr txBox="1"/>
          <p:nvPr/>
        </p:nvSpPr>
        <p:spPr>
          <a:xfrm>
            <a:off x="914400" y="1920240"/>
            <a:ext cx="4754880" cy="4206240"/>
          </a:xfrm>
          <a:prstGeom prst="rect">
            <a:avLst/>
          </a:prstGeom>
          <a:noFill/>
        </p:spPr>
        <p:txBody>
          <a:bodyPr wrap="square">
            <a:spAutoFit/>
          </a:bodyPr>
          <a:lstStyle/>
          <a:p>
            <a:pPr>
              <a:lnSpc>
                <a:spcPct val="125000"/>
              </a:lnSpc>
              <a:defRPr sz="1200">
                <a:solidFill>
                  <a:srgbClr val="282828"/>
                </a:solidFill>
                <a:latin typeface="Arial"/>
              </a:defRPr>
            </a:pPr>
            <a:r>
              <a:t>• Xung đột tốc độ truyền dẫn:</a:t>
            </a:r>
          </a:p>
          <a:p>
            <a:pPr>
              <a:lnSpc>
                <a:spcPct val="125000"/>
              </a:lnSpc>
              <a:defRPr sz="1200">
                <a:solidFill>
                  <a:srgbClr val="282828"/>
                </a:solidFill>
                <a:latin typeface="Arial"/>
              </a:defRPr>
            </a:pPr>
            <a:r>
              <a:t>  - Mạng CAN Bus xe: 500 kbps.</a:t>
            </a:r>
          </a:p>
          <a:p>
            <a:pPr>
              <a:lnSpc>
                <a:spcPct val="125000"/>
              </a:lnSpc>
              <a:defRPr sz="1200">
                <a:solidFill>
                  <a:srgbClr val="282828"/>
                </a:solidFill>
                <a:latin typeface="Arial"/>
              </a:defRPr>
            </a:pPr>
            <a:r>
              <a:t>  - Đường truyền UART nội bộ: 115200 bps.</a:t>
            </a:r>
          </a:p>
          <a:p>
            <a:pPr>
              <a:lnSpc>
                <a:spcPct val="125000"/>
              </a:lnSpc>
              <a:defRPr sz="1200">
                <a:solidFill>
                  <a:srgbClr val="282828"/>
                </a:solidFill>
                <a:latin typeface="Arial"/>
              </a:defRPr>
            </a:pPr>
          </a:p>
          <a:p>
            <a:pPr>
              <a:lnSpc>
                <a:spcPct val="125000"/>
              </a:lnSpc>
              <a:defRPr sz="1200">
                <a:solidFill>
                  <a:srgbClr val="282828"/>
                </a:solidFill>
                <a:latin typeface="Arial"/>
              </a:defRPr>
            </a:pPr>
            <a:r>
              <a:t>• Rủi ro nghẽn mạch (Bus Overrun):</a:t>
            </a:r>
          </a:p>
          <a:p>
            <a:pPr>
              <a:lnSpc>
                <a:spcPct val="125000"/>
              </a:lnSpc>
              <a:defRPr sz="1200">
                <a:solidFill>
                  <a:srgbClr val="282828"/>
                </a:solidFill>
                <a:latin typeface="Arial"/>
              </a:defRPr>
            </a:pPr>
            <a:r>
              <a:t>  Central ECU phát chu kỳ liên tục các lệnh điều khiển (kể cả khi không có thay đổi). Nếu F103 đẩy mù quáng xuống UART, bộ đệm F411 sẽ bị nghẽn và tràn dữ liệu lập tức.</a:t>
            </a:r>
          </a:p>
          <a:p>
            <a:pPr>
              <a:lnSpc>
                <a:spcPct val="125000"/>
              </a:lnSpc>
              <a:defRPr sz="1200">
                <a:solidFill>
                  <a:srgbClr val="282828"/>
                </a:solidFill>
                <a:latin typeface="Arial"/>
              </a:defRPr>
            </a:pPr>
          </a:p>
          <a:p>
            <a:pPr>
              <a:lnSpc>
                <a:spcPct val="125000"/>
              </a:lnSpc>
              <a:defRPr sz="1200">
                <a:solidFill>
                  <a:srgbClr val="282828"/>
                </a:solidFill>
                <a:latin typeface="Arial"/>
              </a:defRPr>
            </a:pPr>
            <a:r>
              <a:t>• Đích đến giải thuật:</a:t>
            </a:r>
          </a:p>
          <a:p>
            <a:pPr>
              <a:lnSpc>
                <a:spcPct val="125000"/>
              </a:lnSpc>
              <a:defRPr sz="1200">
                <a:solidFill>
                  <a:srgbClr val="282828"/>
                </a:solidFill>
                <a:latin typeface="Arial"/>
              </a:defRPr>
            </a:pPr>
            <a:r>
              <a:t>  Chỉ chuyển tiếp xuống F411 khi và chỉ khi có sự thay đổi trạng thái (Delta Change Only)!</a:t>
            </a:r>
          </a:p>
        </p:txBody>
      </p:sp>
      <p:sp>
        <p:nvSpPr>
          <p:cNvPr id="8" name="Rounded Rectangle 7"/>
          <p:cNvSpPr/>
          <p:nvPr/>
        </p:nvSpPr>
        <p:spPr>
          <a:xfrm>
            <a:off x="6217920" y="1371600"/>
            <a:ext cx="5212080" cy="4937760"/>
          </a:xfrm>
          <a:prstGeom prst="roundRect">
            <a:avLst/>
          </a:prstGeom>
          <a:solidFill>
            <a:srgbClr val="FFFFFF"/>
          </a:solidFill>
          <a:ln w="1524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08760"/>
            <a:ext cx="4846320" cy="411480"/>
          </a:xfrm>
          <a:prstGeom prst="rect">
            <a:avLst/>
          </a:prstGeom>
          <a:noFill/>
        </p:spPr>
        <p:txBody>
          <a:bodyPr wrap="none">
            <a:spAutoFit/>
          </a:bodyPr>
          <a:lstStyle/>
          <a:p>
            <a:r>
              <a:rPr sz="1300" b="1">
                <a:solidFill>
                  <a:srgbClr val="10B981"/>
                </a:solidFill>
                <a:latin typeface="Arial"/>
              </a:rPr>
              <a:t>HIỆN THỰC THUẬT TOÁN BẰNG SHADOW COPIES</a:t>
            </a:r>
          </a:p>
        </p:txBody>
      </p:sp>
      <p:sp>
        <p:nvSpPr>
          <p:cNvPr id="10" name="TextBox 9"/>
          <p:cNvSpPr txBox="1"/>
          <p:nvPr/>
        </p:nvSpPr>
        <p:spPr>
          <a:xfrm>
            <a:off x="6400800" y="1920240"/>
            <a:ext cx="4846320" cy="4206240"/>
          </a:xfrm>
          <a:prstGeom prst="rect">
            <a:avLst/>
          </a:prstGeom>
          <a:noFill/>
        </p:spPr>
        <p:txBody>
          <a:bodyPr wrap="square">
            <a:spAutoFit/>
          </a:bodyPr>
          <a:lstStyle/>
          <a:p>
            <a:pPr>
              <a:lnSpc>
                <a:spcPct val="115000"/>
              </a:lnSpc>
              <a:defRPr sz="1100">
                <a:solidFill>
                  <a:srgbClr val="282828"/>
                </a:solidFill>
                <a:latin typeface="Arial"/>
              </a:defRPr>
            </a:pPr>
            <a:r>
              <a:t>/* Code thực tế trong file RX_data_CAN.c */</a:t>
            </a:r>
          </a:p>
          <a:p>
            <a:pPr>
              <a:lnSpc>
                <a:spcPct val="115000"/>
              </a:lnSpc>
              <a:defRPr sz="1100">
                <a:solidFill>
                  <a:srgbClr val="282828"/>
                </a:solidFill>
                <a:latin typeface="Arial"/>
              </a:defRPr>
            </a:pPr>
            <a:r>
              <a:t>static uint8_t prev_light_mask = 0xFF;</a:t>
            </a:r>
          </a:p>
          <a:p>
            <a:pPr>
              <a:lnSpc>
                <a:spcPct val="115000"/>
              </a:lnSpc>
              <a:defRPr sz="1100">
                <a:solidFill>
                  <a:srgbClr val="282828"/>
                </a:solidFill>
                <a:latin typeface="Arial"/>
              </a:defRPr>
            </a:pPr>
            <a:r>
              <a:t>static uint8_t prev_light_brightness = 0xFF;</a:t>
            </a:r>
          </a:p>
          <a:p>
            <a:pPr>
              <a:lnSpc>
                <a:spcPct val="115000"/>
              </a:lnSpc>
              <a:defRPr sz="1100">
                <a:solidFill>
                  <a:srgbClr val="282828"/>
                </a:solidFill>
                <a:latin typeface="Arial"/>
              </a:defRPr>
            </a:pPr>
          </a:p>
          <a:p>
            <a:pPr>
              <a:lnSpc>
                <a:spcPct val="115000"/>
              </a:lnSpc>
              <a:defRPr sz="1100">
                <a:solidFill>
                  <a:srgbClr val="282828"/>
                </a:solidFill>
                <a:latin typeface="Arial"/>
              </a:defRPr>
            </a:pPr>
            <a:r>
              <a:t>static void Forward_If_Changed(uint8_t cmdId,</a:t>
            </a:r>
          </a:p>
          <a:p>
            <a:pPr>
              <a:lnSpc>
                <a:spcPct val="115000"/>
              </a:lnSpc>
              <a:defRPr sz="1100">
                <a:solidFill>
                  <a:srgbClr val="282828"/>
                </a:solidFill>
                <a:latin typeface="Arial"/>
              </a:defRPr>
            </a:pPr>
            <a:r>
              <a:t>        uint8_t d0, uint8_t d1, uint8_t *prev0, uint8_t *prev1) {</a:t>
            </a:r>
          </a:p>
          <a:p>
            <a:pPr>
              <a:lnSpc>
                <a:spcPct val="115000"/>
              </a:lnSpc>
              <a:defRPr sz="1100">
                <a:solidFill>
                  <a:srgbClr val="282828"/>
                </a:solidFill>
                <a:latin typeface="Arial"/>
              </a:defRPr>
            </a:pPr>
            <a:r>
              <a:t>    // So sánh dữ liệu mới với bản sao bóng</a:t>
            </a:r>
          </a:p>
          <a:p>
            <a:pPr>
              <a:lnSpc>
                <a:spcPct val="115000"/>
              </a:lnSpc>
              <a:defRPr sz="1100">
                <a:solidFill>
                  <a:srgbClr val="282828"/>
                </a:solidFill>
                <a:latin typeface="Arial"/>
              </a:defRPr>
            </a:pPr>
            <a:r>
              <a:t>    if (d0 == *prev0 &amp;&amp; d1 == *prev1) return; // BỎ QUA</a:t>
            </a:r>
          </a:p>
          <a:p>
            <a:pPr>
              <a:lnSpc>
                <a:spcPct val="115000"/>
              </a:lnSpc>
              <a:defRPr sz="1100">
                <a:solidFill>
                  <a:srgbClr val="282828"/>
                </a:solidFill>
                <a:latin typeface="Arial"/>
              </a:defRPr>
            </a:pPr>
          </a:p>
          <a:p>
            <a:pPr>
              <a:lnSpc>
                <a:spcPct val="115000"/>
              </a:lnSpc>
              <a:defRPr sz="1100">
                <a:solidFill>
                  <a:srgbClr val="282828"/>
                </a:solidFill>
                <a:latin typeface="Arial"/>
              </a:defRPr>
            </a:pPr>
            <a:r>
              <a:t>    *prev0 = d0; *prev1 = d1; // Cập nhật Shadow copy</a:t>
            </a:r>
          </a:p>
          <a:p>
            <a:pPr>
              <a:lnSpc>
                <a:spcPct val="115000"/>
              </a:lnSpc>
              <a:defRPr sz="1100">
                <a:solidFill>
                  <a:srgbClr val="282828"/>
                </a:solidFill>
                <a:latin typeface="Arial"/>
              </a:defRPr>
            </a:pPr>
            <a:r>
              <a:t>    uint8_t pkt[5] = {0xAA, cmdId, d0, d1, cks};</a:t>
            </a:r>
          </a:p>
          <a:p>
            <a:pPr>
              <a:lnSpc>
                <a:spcPct val="115000"/>
              </a:lnSpc>
              <a:defRPr sz="1100">
                <a:solidFill>
                  <a:srgbClr val="282828"/>
                </a:solidFill>
                <a:latin typeface="Arial"/>
              </a:defRPr>
            </a:pPr>
            <a:r>
              <a:t>    HAL_UART_Transmit(&amp;huart1, pkt, 5, 10);</a:t>
            </a:r>
          </a:p>
          <a:p>
            <a:pPr>
              <a:lnSpc>
                <a:spcPct val="115000"/>
              </a:lnSpc>
              <a:defRPr sz="1100">
                <a:solidFill>
                  <a:srgbClr val="282828"/>
                </a:solidFill>
                <a:latin typeface="Arial"/>
              </a:defRPr>
            </a:pPr>
            <a:r>
              <a:t>}</a:t>
            </a:r>
          </a:p>
          <a:p>
            <a:pPr>
              <a:lnSpc>
                <a:spcPct val="115000"/>
              </a:lnSpc>
              <a:defRPr sz="1100">
                <a:solidFill>
                  <a:srgbClr val="282828"/>
                </a:solidFill>
                <a:latin typeface="Arial"/>
              </a:defRPr>
            </a:pPr>
          </a:p>
          <a:p>
            <a:pPr>
              <a:lnSpc>
                <a:spcPct val="115000"/>
              </a:lnSpc>
              <a:defRPr sz="1100">
                <a:solidFill>
                  <a:srgbClr val="282828"/>
                </a:solidFill>
                <a:latin typeface="Arial"/>
              </a:defRPr>
            </a:pPr>
            <a:r>
              <a:t>-&gt; Giảm &gt; 80% tải giao tiếp UART khi xe chạy ổn định!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r>
              <a:rPr sz="1000" b="1">
                <a:solidFill>
                  <a:srgbClr val="00A8CC"/>
                </a:solidFill>
                <a:latin typeface="Arial"/>
              </a:rPr>
              <a:t>FRONT BCM FIRMWARE | SOFTWARE DESIGN</a:t>
            </a:r>
          </a:p>
        </p:txBody>
      </p:sp>
      <p:sp>
        <p:nvSpPr>
          <p:cNvPr id="4" name="TextBox 3"/>
          <p:cNvSpPr txBox="1"/>
          <p:nvPr/>
        </p:nvSpPr>
        <p:spPr>
          <a:xfrm>
            <a:off x="731520" y="347472"/>
            <a:ext cx="10515600" cy="594360"/>
          </a:xfrm>
          <a:prstGeom prst="rect">
            <a:avLst/>
          </a:prstGeom>
          <a:noFill/>
        </p:spPr>
        <p:txBody>
          <a:bodyPr wrap="none">
            <a:spAutoFit/>
          </a:bodyPr>
          <a:lstStyle/>
          <a:p>
            <a:r>
              <a:rPr sz="2000" b="1">
                <a:solidFill>
                  <a:srgbClr val="FFFFFF"/>
                </a:solidFill>
                <a:latin typeface="Arial"/>
              </a:rPr>
              <a:t>6. ACTUATOR NODE (F411) — HỆ THỐNG GẠT MƯA &amp; KHÓA LỖI LATCHED FAULT</a:t>
            </a:r>
          </a:p>
        </p:txBody>
      </p:sp>
      <p:sp>
        <p:nvSpPr>
          <p:cNvPr id="5" name="Rounded Rectangle 4"/>
          <p:cNvSpPr/>
          <p:nvPr/>
        </p:nvSpPr>
        <p:spPr>
          <a:xfrm>
            <a:off x="731520" y="1371600"/>
            <a:ext cx="5120640" cy="4937760"/>
          </a:xfrm>
          <a:prstGeom prst="roundRect">
            <a:avLst/>
          </a:prstGeom>
          <a:solidFill>
            <a:srgbClr val="FFFFFF"/>
          </a:solidFill>
          <a:ln w="1524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4754880" cy="411480"/>
          </a:xfrm>
          <a:prstGeom prst="rect">
            <a:avLst/>
          </a:prstGeom>
          <a:noFill/>
        </p:spPr>
        <p:txBody>
          <a:bodyPr wrap="none">
            <a:spAutoFit/>
          </a:bodyPr>
          <a:lstStyle/>
          <a:p>
            <a:r>
              <a:rPr sz="1300" b="1">
                <a:solidFill>
                  <a:srgbClr val="0066CC"/>
                </a:solidFill>
                <a:latin typeface="Arial"/>
              </a:rPr>
              <a:t>ĐIỀU KHIỂN GẠT MƯA TỰ ĐỘNG THÍCH ỨNG</a:t>
            </a:r>
          </a:p>
        </p:txBody>
      </p:sp>
      <p:sp>
        <p:nvSpPr>
          <p:cNvPr id="7" name="TextBox 6"/>
          <p:cNvSpPr txBox="1"/>
          <p:nvPr/>
        </p:nvSpPr>
        <p:spPr>
          <a:xfrm>
            <a:off x="914400" y="1920240"/>
            <a:ext cx="4754880" cy="4206240"/>
          </a:xfrm>
          <a:prstGeom prst="rect">
            <a:avLst/>
          </a:prstGeom>
          <a:noFill/>
        </p:spPr>
        <p:txBody>
          <a:bodyPr wrap="square">
            <a:spAutoFit/>
          </a:bodyPr>
          <a:lstStyle/>
          <a:p>
            <a:pPr>
              <a:lnSpc>
                <a:spcPct val="125000"/>
              </a:lnSpc>
              <a:defRPr sz="1150">
                <a:solidFill>
                  <a:srgbClr val="282828"/>
                </a:solidFill>
                <a:latin typeface="Arial"/>
              </a:defRPr>
            </a:pPr>
            <a:r>
              <a:t>• 5 Chế độ gạt nước (wiper.c):</a:t>
            </a:r>
          </a:p>
          <a:p>
            <a:pPr>
              <a:lnSpc>
                <a:spcPct val="125000"/>
              </a:lnSpc>
              <a:defRPr sz="1150">
                <a:solidFill>
                  <a:srgbClr val="282828"/>
                </a:solidFill>
                <a:latin typeface="Arial"/>
              </a:defRPr>
            </a:pPr>
            <a:r>
              <a:t>  OFF, INTERMITTENT (INT), SLOW, NORMAL, FAST, AUTO.</a:t>
            </a:r>
          </a:p>
          <a:p>
            <a:pPr>
              <a:lnSpc>
                <a:spcPct val="125000"/>
              </a:lnSpc>
              <a:defRPr sz="1150">
                <a:solidFill>
                  <a:srgbClr val="282828"/>
                </a:solidFill>
                <a:latin typeface="Arial"/>
              </a:defRPr>
            </a:pPr>
          </a:p>
          <a:p>
            <a:pPr>
              <a:lnSpc>
                <a:spcPct val="125000"/>
              </a:lnSpc>
              <a:defRPr sz="1150">
                <a:solidFill>
                  <a:srgbClr val="282828"/>
                </a:solidFill>
                <a:latin typeface="Arial"/>
              </a:defRPr>
            </a:pPr>
            <a:r>
              <a:t>• Đọc ADC Cảm biến mưa ngầm định bằng DMA:</a:t>
            </a:r>
          </a:p>
          <a:p>
            <a:pPr>
              <a:lnSpc>
                <a:spcPct val="125000"/>
              </a:lnSpc>
              <a:defRPr sz="1150">
                <a:solidFill>
                  <a:srgbClr val="282828"/>
                </a:solidFill>
                <a:latin typeface="Arial"/>
              </a:defRPr>
            </a:pPr>
            <a:r>
              <a:t>  DMA2 Stream0 tự động cập nhật PA0 vào RAM không tốn chu kỳ CPU.</a:t>
            </a:r>
          </a:p>
          <a:p>
            <a:pPr>
              <a:lnSpc>
                <a:spcPct val="125000"/>
              </a:lnSpc>
              <a:defRPr sz="1150">
                <a:solidFill>
                  <a:srgbClr val="282828"/>
                </a:solidFill>
                <a:latin typeface="Arial"/>
              </a:defRPr>
            </a:pPr>
          </a:p>
          <a:p>
            <a:pPr>
              <a:lnSpc>
                <a:spcPct val="125000"/>
              </a:lnSpc>
              <a:defRPr sz="1150">
                <a:solidFill>
                  <a:srgbClr val="282828"/>
                </a:solidFill>
                <a:latin typeface="Arial"/>
              </a:defRPr>
            </a:pPr>
            <a:r>
              <a:t>• Thuật toán trễ phân cấp (Hysteresis AUTO Mode):</a:t>
            </a:r>
          </a:p>
          <a:p>
            <a:pPr>
              <a:lnSpc>
                <a:spcPct val="125000"/>
              </a:lnSpc>
              <a:defRPr sz="1150">
                <a:solidFill>
                  <a:srgbClr val="282828"/>
                </a:solidFill>
                <a:latin typeface="Arial"/>
              </a:defRPr>
            </a:pPr>
            <a:r>
              <a:t>  - ADC &gt; 3000: Trời khô -&gt; Dừng gạt (1000 µs)</a:t>
            </a:r>
          </a:p>
          <a:p>
            <a:pPr>
              <a:lnSpc>
                <a:spcPct val="125000"/>
              </a:lnSpc>
              <a:defRPr sz="1150">
                <a:solidFill>
                  <a:srgbClr val="282828"/>
                </a:solidFill>
                <a:latin typeface="Arial"/>
              </a:defRPr>
            </a:pPr>
            <a:r>
              <a:t>  - 2400 - 3000: Mưa nhỏ (30%) -&gt; Quét chậm (1800ms)</a:t>
            </a:r>
          </a:p>
          <a:p>
            <a:pPr>
              <a:lnSpc>
                <a:spcPct val="125000"/>
              </a:lnSpc>
              <a:defRPr sz="1150">
                <a:solidFill>
                  <a:srgbClr val="282828"/>
                </a:solidFill>
                <a:latin typeface="Arial"/>
              </a:defRPr>
            </a:pPr>
            <a:r>
              <a:t>  - 1800 - 2400: Mưa vừa (60%) -&gt; Quét vừa (1200ms)</a:t>
            </a:r>
          </a:p>
          <a:p>
            <a:pPr>
              <a:lnSpc>
                <a:spcPct val="125000"/>
              </a:lnSpc>
              <a:defRPr sz="1150">
                <a:solidFill>
                  <a:srgbClr val="282828"/>
                </a:solidFill>
                <a:latin typeface="Arial"/>
              </a:defRPr>
            </a:pPr>
            <a:r>
              <a:t>  - ADC &lt;= 1800: Mưa to (100%) -&gt; Quét liên tục (600ms)</a:t>
            </a:r>
          </a:p>
        </p:txBody>
      </p:sp>
      <p:sp>
        <p:nvSpPr>
          <p:cNvPr id="8" name="Rounded Rectangle 7"/>
          <p:cNvSpPr/>
          <p:nvPr/>
        </p:nvSpPr>
        <p:spPr>
          <a:xfrm>
            <a:off x="6217920" y="1371600"/>
            <a:ext cx="5212080" cy="4937760"/>
          </a:xfrm>
          <a:prstGeom prst="roundRect">
            <a:avLst/>
          </a:prstGeom>
          <a:solidFill>
            <a:srgbClr val="FFFFFF"/>
          </a:solidFill>
          <a:ln w="1524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08760"/>
            <a:ext cx="4846320" cy="411480"/>
          </a:xfrm>
          <a:prstGeom prst="rect">
            <a:avLst/>
          </a:prstGeom>
          <a:noFill/>
        </p:spPr>
        <p:txBody>
          <a:bodyPr wrap="none">
            <a:spAutoFit/>
          </a:bodyPr>
          <a:lstStyle/>
          <a:p>
            <a:r>
              <a:rPr sz="1300" b="1">
                <a:solidFill>
                  <a:srgbClr val="DC2626"/>
                </a:solidFill>
                <a:latin typeface="Arial"/>
              </a:rPr>
              <a:t>CƠ CHẾ KHÓA LỖI CỨNG BẢO VỆ BƠM (DTC B1012)</a:t>
            </a:r>
          </a:p>
        </p:txBody>
      </p:sp>
      <p:sp>
        <p:nvSpPr>
          <p:cNvPr id="10" name="TextBox 9"/>
          <p:cNvSpPr txBox="1"/>
          <p:nvPr/>
        </p:nvSpPr>
        <p:spPr>
          <a:xfrm>
            <a:off x="6400800" y="1920240"/>
            <a:ext cx="4846320" cy="4206240"/>
          </a:xfrm>
          <a:prstGeom prst="rect">
            <a:avLst/>
          </a:prstGeom>
          <a:noFill/>
        </p:spPr>
        <p:txBody>
          <a:bodyPr wrap="square">
            <a:spAutoFit/>
          </a:bodyPr>
          <a:lstStyle/>
          <a:p>
            <a:pPr>
              <a:lnSpc>
                <a:spcPct val="125000"/>
              </a:lnSpc>
              <a:defRPr sz="1150">
                <a:solidFill>
                  <a:srgbClr val="282828"/>
                </a:solidFill>
                <a:latin typeface="Arial"/>
              </a:defRPr>
            </a:pPr>
            <a:r>
              <a:t>• Nguy cơ kỹ thuật:</a:t>
            </a:r>
          </a:p>
          <a:p>
            <a:pPr>
              <a:lnSpc>
                <a:spcPct val="125000"/>
              </a:lnSpc>
              <a:defRPr sz="1150">
                <a:solidFill>
                  <a:srgbClr val="282828"/>
                </a:solidFill>
                <a:latin typeface="Arial"/>
              </a:defRPr>
            </a:pPr>
            <a:r>
              <a:t>  Mô-tơ bơm nước rửa kính dễ cháy hỏng cuộn dây nếu chạy cạn không tải.</a:t>
            </a:r>
          </a:p>
          <a:p>
            <a:pPr>
              <a:lnSpc>
                <a:spcPct val="125000"/>
              </a:lnSpc>
              <a:defRPr sz="1150">
                <a:solidFill>
                  <a:srgbClr val="282828"/>
                </a:solidFill>
                <a:latin typeface="Arial"/>
              </a:defRPr>
            </a:pPr>
          </a:p>
          <a:p>
            <a:pPr>
              <a:lnSpc>
                <a:spcPct val="125000"/>
              </a:lnSpc>
              <a:defRPr sz="1150">
                <a:solidFill>
                  <a:srgbClr val="282828"/>
                </a:solidFill>
                <a:latin typeface="Arial"/>
              </a:defRPr>
            </a:pPr>
            <a:r>
              <a:t>• Lọc nhiễu sóng nước Debounce 300ms:</a:t>
            </a:r>
          </a:p>
          <a:p>
            <a:pPr>
              <a:lnSpc>
                <a:spcPct val="125000"/>
              </a:lnSpc>
              <a:defRPr sz="1150">
                <a:solidFill>
                  <a:srgbClr val="282828"/>
                </a:solidFill>
                <a:latin typeface="Arial"/>
              </a:defRPr>
            </a:pPr>
            <a:r>
              <a:t>  Loại trừ báo động giả khi xe dằn xóc làm rung phao PE9.</a:t>
            </a:r>
          </a:p>
          <a:p>
            <a:pPr>
              <a:lnSpc>
                <a:spcPct val="125000"/>
              </a:lnSpc>
              <a:defRPr sz="1150">
                <a:solidFill>
                  <a:srgbClr val="282828"/>
                </a:solidFill>
                <a:latin typeface="Arial"/>
              </a:defRPr>
            </a:pPr>
          </a:p>
          <a:p>
            <a:pPr>
              <a:lnSpc>
                <a:spcPct val="125000"/>
              </a:lnSpc>
              <a:defRPr sz="1150">
                <a:solidFill>
                  <a:srgbClr val="282828"/>
                </a:solidFill>
                <a:latin typeface="Arial"/>
              </a:defRPr>
            </a:pPr>
            <a:r>
              <a:t>• Triết lý An toàn chức năng Non-Recoverable:</a:t>
            </a:r>
          </a:p>
          <a:p>
            <a:pPr>
              <a:lnSpc>
                <a:spcPct val="125000"/>
              </a:lnSpc>
              <a:defRPr sz="1150">
                <a:solidFill>
                  <a:srgbClr val="282828"/>
                </a:solidFill>
                <a:latin typeface="Arial"/>
              </a:defRPr>
            </a:pPr>
            <a:r>
              <a:t>  - Khi xác nhận cạn nước: Bật is_water_fault_latched = 1.</a:t>
            </a:r>
          </a:p>
          <a:p>
            <a:pPr>
              <a:lnSpc>
                <a:spcPct val="125000"/>
              </a:lnSpc>
              <a:defRPr sz="1150">
                <a:solidFill>
                  <a:srgbClr val="282828"/>
                </a:solidFill>
                <a:latin typeface="Arial"/>
              </a:defRPr>
            </a:pPr>
            <a:r>
              <a:t>  - Dập tắt xung PWM bơm nước (TIM3_CH1 = 0) ngay lập tức.</a:t>
            </a:r>
          </a:p>
          <a:p>
            <a:pPr>
              <a:lnSpc>
                <a:spcPct val="125000"/>
              </a:lnSpc>
              <a:defRPr sz="1150">
                <a:solidFill>
                  <a:srgbClr val="282828"/>
                </a:solidFill>
                <a:latin typeface="Arial"/>
              </a:defRPr>
            </a:pPr>
            <a:r>
              <a:t>  - Phát mã chẩn đoán DTC_B1012 lên Central ECU.</a:t>
            </a:r>
          </a:p>
          <a:p>
            <a:pPr>
              <a:lnSpc>
                <a:spcPct val="125000"/>
              </a:lnSpc>
              <a:defRPr sz="1150">
                <a:solidFill>
                  <a:srgbClr val="282828"/>
                </a:solidFill>
                <a:latin typeface="Arial"/>
              </a:defRPr>
            </a:pPr>
            <a:r>
              <a:t>  - Bơm bị KHÓA CỨNG VĨNH VIỄN trong RAM cho đến khi kỹ thuật viên ngắt nguồn / Reset vi điều khiển!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r>
              <a:rPr sz="1000" b="1">
                <a:solidFill>
                  <a:srgbClr val="00A8CC"/>
                </a:solidFill>
                <a:latin typeface="Arial"/>
              </a:rPr>
              <a:t>FRONT BCM FIRMWARE | SOFTWARE DESIGN</a:t>
            </a:r>
          </a:p>
        </p:txBody>
      </p:sp>
      <p:sp>
        <p:nvSpPr>
          <p:cNvPr id="4" name="TextBox 3"/>
          <p:cNvSpPr txBox="1"/>
          <p:nvPr/>
        </p:nvSpPr>
        <p:spPr>
          <a:xfrm>
            <a:off x="731520" y="347472"/>
            <a:ext cx="10515600" cy="594360"/>
          </a:xfrm>
          <a:prstGeom prst="rect">
            <a:avLst/>
          </a:prstGeom>
          <a:noFill/>
        </p:spPr>
        <p:txBody>
          <a:bodyPr wrap="none">
            <a:spAutoFit/>
          </a:bodyPr>
          <a:lstStyle/>
          <a:p>
            <a:r>
              <a:rPr sz="2000" b="1">
                <a:solidFill>
                  <a:srgbClr val="FFFFFF"/>
                </a:solidFill>
                <a:latin typeface="Arial"/>
              </a:rPr>
              <a:t>7. ACTUATOR NODE (F411) — HỆ THỐNG ĐÈN &amp; AN TOÀN QUANG HỌC</a:t>
            </a:r>
          </a:p>
        </p:txBody>
      </p:sp>
      <p:sp>
        <p:nvSpPr>
          <p:cNvPr id="5" name="Rounded Rectangle 4"/>
          <p:cNvSpPr/>
          <p:nvPr/>
        </p:nvSpPr>
        <p:spPr>
          <a:xfrm>
            <a:off x="731520" y="1371600"/>
            <a:ext cx="5120640" cy="4937760"/>
          </a:xfrm>
          <a:prstGeom prst="roundRect">
            <a:avLst/>
          </a:prstGeom>
          <a:solidFill>
            <a:srgbClr val="FFFFFF"/>
          </a:solidFill>
          <a:ln w="1524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4754880" cy="411480"/>
          </a:xfrm>
          <a:prstGeom prst="rect">
            <a:avLst/>
          </a:prstGeom>
          <a:noFill/>
        </p:spPr>
        <p:txBody>
          <a:bodyPr wrap="none">
            <a:spAutoFit/>
          </a:bodyPr>
          <a:lstStyle/>
          <a:p>
            <a:r>
              <a:rPr sz="1300" b="1">
                <a:solidFill>
                  <a:srgbClr val="0066CC"/>
                </a:solidFill>
                <a:latin typeface="Arial"/>
              </a:rPr>
              <a:t>ĐIỀU BIẾN ĐỘ SÁNG PWM &amp; SÀN BẢO VỆ</a:t>
            </a:r>
          </a:p>
        </p:txBody>
      </p:sp>
      <p:sp>
        <p:nvSpPr>
          <p:cNvPr id="7" name="TextBox 6"/>
          <p:cNvSpPr txBox="1"/>
          <p:nvPr/>
        </p:nvSpPr>
        <p:spPr>
          <a:xfrm>
            <a:off x="914400" y="1920240"/>
            <a:ext cx="4754880" cy="4206240"/>
          </a:xfrm>
          <a:prstGeom prst="rect">
            <a:avLst/>
          </a:prstGeom>
          <a:noFill/>
        </p:spPr>
        <p:txBody>
          <a:bodyPr wrap="square">
            <a:spAutoFit/>
          </a:bodyPr>
          <a:lstStyle/>
          <a:p>
            <a:pPr>
              <a:lnSpc>
                <a:spcPct val="125000"/>
              </a:lnSpc>
              <a:defRPr sz="1200">
                <a:solidFill>
                  <a:srgbClr val="282828"/>
                </a:solidFill>
                <a:latin typeface="Arial"/>
              </a:defRPr>
            </a:pPr>
            <a:r>
              <a:t>• Điều khiển độ sáng Đèn pha (Dimmer):</a:t>
            </a:r>
          </a:p>
          <a:p>
            <a:pPr>
              <a:lnSpc>
                <a:spcPct val="125000"/>
              </a:lnSpc>
              <a:defRPr sz="1200">
                <a:solidFill>
                  <a:srgbClr val="282828"/>
                </a:solidFill>
                <a:latin typeface="Arial"/>
              </a:defRPr>
            </a:pPr>
            <a:r>
              <a:t>  - Đọc điện áp chiết áp PC1 qua kênh ADC1_IN11 (Rank 2 DMA).</a:t>
            </a:r>
          </a:p>
          <a:p>
            <a:pPr>
              <a:lnSpc>
                <a:spcPct val="125000"/>
              </a:lnSpc>
              <a:defRPr sz="1200">
                <a:solidFill>
                  <a:srgbClr val="282828"/>
                </a:solidFill>
                <a:latin typeface="Arial"/>
              </a:defRPr>
            </a:pPr>
            <a:r>
              <a:t>  - Xuất PWM tần số cao (1 kHz) trên Timer 4 CH2 (PB7) và CH3 (PB8).</a:t>
            </a:r>
          </a:p>
          <a:p>
            <a:pPr>
              <a:lnSpc>
                <a:spcPct val="125000"/>
              </a:lnSpc>
              <a:defRPr sz="1200">
                <a:solidFill>
                  <a:srgbClr val="282828"/>
                </a:solidFill>
                <a:latin typeface="Arial"/>
              </a:defRPr>
            </a:pPr>
          </a:p>
          <a:p>
            <a:pPr>
              <a:lnSpc>
                <a:spcPct val="125000"/>
              </a:lnSpc>
              <a:defRPr sz="1200">
                <a:solidFill>
                  <a:srgbClr val="282828"/>
                </a:solidFill>
                <a:latin typeface="Arial"/>
              </a:defRPr>
            </a:pPr>
            <a:r>
              <a:t>• Thuật toán Giới hạn Sàn an toàn (20% Minimum Floor):</a:t>
            </a:r>
          </a:p>
          <a:p>
            <a:pPr>
              <a:lnSpc>
                <a:spcPct val="125000"/>
              </a:lnSpc>
              <a:defRPr sz="1200">
                <a:solidFill>
                  <a:srgbClr val="282828"/>
                </a:solidFill>
                <a:latin typeface="Arial"/>
              </a:defRPr>
            </a:pPr>
            <a:r>
              <a:t>  uint8_t pct = (uint8_t)((raw * 100) / 4095);</a:t>
            </a:r>
          </a:p>
          <a:p>
            <a:pPr>
              <a:lnSpc>
                <a:spcPct val="125000"/>
              </a:lnSpc>
              <a:defRPr sz="1200">
                <a:solidFill>
                  <a:srgbClr val="282828"/>
                </a:solidFill>
                <a:latin typeface="Arial"/>
              </a:defRPr>
            </a:pPr>
            <a:r>
              <a:t>  if (pct &lt; 20) pct = 20; // Chống tắt lịm</a:t>
            </a:r>
          </a:p>
          <a:p>
            <a:pPr>
              <a:lnSpc>
                <a:spcPct val="125000"/>
              </a:lnSpc>
              <a:defRPr sz="1200">
                <a:solidFill>
                  <a:srgbClr val="282828"/>
                </a:solidFill>
                <a:latin typeface="Arial"/>
              </a:defRPr>
            </a:pPr>
            <a:r>
              <a:t>  Ngăn chặn việc vô tình vặn biến trở về 0 làm tắt ngấm đèn pha trong đêm gây nguy hiểm cho xe.</a:t>
            </a:r>
          </a:p>
        </p:txBody>
      </p:sp>
      <p:sp>
        <p:nvSpPr>
          <p:cNvPr id="8" name="Rounded Rectangle 7"/>
          <p:cNvSpPr/>
          <p:nvPr/>
        </p:nvSpPr>
        <p:spPr>
          <a:xfrm>
            <a:off x="6217920" y="1371600"/>
            <a:ext cx="5212080" cy="4937760"/>
          </a:xfrm>
          <a:prstGeom prst="roundRect">
            <a:avLst/>
          </a:prstGeom>
          <a:solidFill>
            <a:srgbClr val="FFFFFF"/>
          </a:solidFill>
          <a:ln w="1524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08760"/>
            <a:ext cx="4846320" cy="411480"/>
          </a:xfrm>
          <a:prstGeom prst="rect">
            <a:avLst/>
          </a:prstGeom>
          <a:noFill/>
        </p:spPr>
        <p:txBody>
          <a:bodyPr wrap="none">
            <a:spAutoFit/>
          </a:bodyPr>
          <a:lstStyle/>
          <a:p>
            <a:r>
              <a:rPr sz="1300" b="1">
                <a:solidFill>
                  <a:srgbClr val="0A2540"/>
                </a:solidFill>
                <a:latin typeface="Arial"/>
              </a:rPr>
              <a:t>TRIỆT TIÊU ĐIỂM MÙ &amp; AUTO FOG OVERRIDE</a:t>
            </a:r>
          </a:p>
        </p:txBody>
      </p:sp>
      <p:sp>
        <p:nvSpPr>
          <p:cNvPr id="10" name="TextBox 9"/>
          <p:cNvSpPr txBox="1"/>
          <p:nvPr/>
        </p:nvSpPr>
        <p:spPr>
          <a:xfrm>
            <a:off x="6400800" y="1920240"/>
            <a:ext cx="4846320" cy="4206240"/>
          </a:xfrm>
          <a:prstGeom prst="rect">
            <a:avLst/>
          </a:prstGeom>
          <a:noFill/>
        </p:spPr>
        <p:txBody>
          <a:bodyPr wrap="square">
            <a:spAutoFit/>
          </a:bodyPr>
          <a:lstStyle/>
          <a:p>
            <a:pPr>
              <a:lnSpc>
                <a:spcPct val="120000"/>
              </a:lnSpc>
              <a:defRPr sz="1100">
                <a:solidFill>
                  <a:srgbClr val="282828"/>
                </a:solidFill>
                <a:latin typeface="Arial"/>
              </a:defRPr>
            </a:pPr>
            <a:r>
              <a:t>1. Quy tắc Triệt tiêu Điểm mù (Blind-Spot Mitigation):</a:t>
            </a:r>
          </a:p>
          <a:p>
            <a:pPr>
              <a:lnSpc>
                <a:spcPct val="120000"/>
              </a:lnSpc>
              <a:defRPr sz="1100">
                <a:solidFill>
                  <a:srgbClr val="282828"/>
                </a:solidFill>
                <a:latin typeface="Arial"/>
              </a:defRPr>
            </a:pPr>
            <a:r>
              <a:t>   Theo tiêu chuẩn chiếu sáng an toàn xe cơ giới, khi bật Pha (High Beam), đèn Cos (Low Beam) bắt buộc phải sáng đồng thời để giữ vùng sáng sát đầu xe:</a:t>
            </a:r>
          </a:p>
          <a:p>
            <a:pPr>
              <a:lnSpc>
                <a:spcPct val="120000"/>
              </a:lnSpc>
              <a:defRPr sz="1100">
                <a:solidFill>
                  <a:srgbClr val="282828"/>
                </a:solidFill>
                <a:latin typeface="Arial"/>
              </a:defRPr>
            </a:pPr>
            <a:r>
              <a:t>   if (is_high_beam_selected) {</a:t>
            </a:r>
          </a:p>
          <a:p>
            <a:pPr>
              <a:lnSpc>
                <a:spcPct val="120000"/>
              </a:lnSpc>
              <a:defRPr sz="1100">
                <a:solidFill>
                  <a:srgbClr val="282828"/>
                </a:solidFill>
                <a:latin typeface="Arial"/>
              </a:defRPr>
            </a:pPr>
            <a:r>
              <a:t>       is_pha_active = 1;</a:t>
            </a:r>
          </a:p>
          <a:p>
            <a:pPr>
              <a:lnSpc>
                <a:spcPct val="120000"/>
              </a:lnSpc>
              <a:defRPr sz="1100">
                <a:solidFill>
                  <a:srgbClr val="282828"/>
                </a:solidFill>
                <a:latin typeface="Arial"/>
              </a:defRPr>
            </a:pPr>
            <a:r>
              <a:t>       is_cos_active = 1; // BẮT BUỘC GIỮ COS SÁNG!</a:t>
            </a:r>
          </a:p>
          <a:p>
            <a:pPr>
              <a:lnSpc>
                <a:spcPct val="120000"/>
              </a:lnSpc>
              <a:defRPr sz="1100">
                <a:solidFill>
                  <a:srgbClr val="282828"/>
                </a:solidFill>
                <a:latin typeface="Arial"/>
              </a:defRPr>
            </a:pPr>
            <a:r>
              <a:t>   }</a:t>
            </a:r>
          </a:p>
          <a:p>
            <a:pPr>
              <a:lnSpc>
                <a:spcPct val="120000"/>
              </a:lnSpc>
              <a:defRPr sz="1100">
                <a:solidFill>
                  <a:srgbClr val="282828"/>
                </a:solidFill>
                <a:latin typeface="Arial"/>
              </a:defRPr>
            </a:pPr>
          </a:p>
          <a:p>
            <a:pPr>
              <a:lnSpc>
                <a:spcPct val="120000"/>
              </a:lnSpc>
              <a:defRPr sz="1100">
                <a:solidFill>
                  <a:srgbClr val="282828"/>
                </a:solidFill>
                <a:latin typeface="Arial"/>
              </a:defRPr>
            </a:pPr>
            <a:r>
              <a:t>2. Tự động kích hoạt Đèn sương mù (Auto Fog Override):</a:t>
            </a:r>
          </a:p>
          <a:p>
            <a:pPr>
              <a:lnSpc>
                <a:spcPct val="120000"/>
              </a:lnSpc>
              <a:defRPr sz="1100">
                <a:solidFill>
                  <a:srgbClr val="282828"/>
                </a:solidFill>
                <a:latin typeface="Arial"/>
              </a:defRPr>
            </a:pPr>
            <a:r>
              <a:t>   Khi cảm biến mưa ghi nhận lượng mưa &gt; 0%:</a:t>
            </a:r>
          </a:p>
          <a:p>
            <a:pPr>
              <a:lnSpc>
                <a:spcPct val="120000"/>
              </a:lnSpc>
              <a:defRPr sz="1100">
                <a:solidFill>
                  <a:srgbClr val="282828"/>
                </a:solidFill>
                <a:latin typeface="Arial"/>
              </a:defRPr>
            </a:pPr>
            <a:r>
              <a:t>   if (Get_RainSensor_Percent() &gt; 0) is_fog_on = 1;</a:t>
            </a:r>
          </a:p>
          <a:p>
            <a:pPr>
              <a:lnSpc>
                <a:spcPct val="120000"/>
              </a:lnSpc>
              <a:defRPr sz="1100">
                <a:solidFill>
                  <a:srgbClr val="282828"/>
                </a:solidFill>
                <a:latin typeface="Arial"/>
              </a:defRPr>
            </a:pPr>
            <a:r>
              <a:t>   Hệ thống tự động bật đèn gầm PE12 hỗ trợ người lái trong thời tiết xấu.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r>
              <a:rPr sz="1000" b="1">
                <a:solidFill>
                  <a:srgbClr val="00A8CC"/>
                </a:solidFill>
                <a:latin typeface="Arial"/>
              </a:rPr>
              <a:t>FRONT BCM FIRMWARE | SOFTWARE DESIGN</a:t>
            </a:r>
          </a:p>
        </p:txBody>
      </p:sp>
      <p:sp>
        <p:nvSpPr>
          <p:cNvPr id="4" name="TextBox 3"/>
          <p:cNvSpPr txBox="1"/>
          <p:nvPr/>
        </p:nvSpPr>
        <p:spPr>
          <a:xfrm>
            <a:off x="731520" y="347472"/>
            <a:ext cx="10515600" cy="594360"/>
          </a:xfrm>
          <a:prstGeom prst="rect">
            <a:avLst/>
          </a:prstGeom>
          <a:noFill/>
        </p:spPr>
        <p:txBody>
          <a:bodyPr wrap="none">
            <a:spAutoFit/>
          </a:bodyPr>
          <a:lstStyle/>
          <a:p>
            <a:r>
              <a:rPr sz="2000" b="1">
                <a:solidFill>
                  <a:srgbClr val="FFFFFF"/>
                </a:solidFill>
                <a:latin typeface="Arial"/>
              </a:rPr>
              <a:t>8. HỆ THỐNG TỰ CHẨN ĐOÁN KẸT PHÍM VẬT LÝ &amp; BÁO CÁO MÃ LỖI DTC</a:t>
            </a:r>
          </a:p>
        </p:txBody>
      </p:sp>
      <p:graphicFrame>
        <p:nvGraphicFramePr>
          <p:cNvPr id="5" name="Table 4"/>
          <p:cNvGraphicFramePr>
            <a:graphicFrameLocks noGrp="1"/>
          </p:cNvGraphicFramePr>
          <p:nvPr/>
        </p:nvGraphicFramePr>
        <p:xfrm>
          <a:off x="731520" y="1371600"/>
          <a:ext cx="10728655" cy="4937760"/>
        </p:xfrm>
        <a:graphic>
          <a:graphicData uri="http://schemas.openxmlformats.org/drawingml/2006/table">
            <a:tbl>
              <a:tblPr firstRow="1" bandRow="1">
                <a:tableStyleId>{5C22544A-7EE6-4342-B048-85BDC9FD1C3A}</a:tableStyleId>
              </a:tblPr>
              <a:tblGrid>
                <a:gridCol w="2011680"/>
                <a:gridCol w="2926080"/>
                <a:gridCol w="1920240"/>
                <a:gridCol w="2011680"/>
                <a:gridCol w="1858975"/>
              </a:tblGrid>
              <a:tr h="705394">
                <a:tc>
                  <a:txBody>
                    <a:bodyPr/>
                    <a:lstStyle/>
                    <a:p>
                      <a:pPr>
                        <a:defRPr sz="950" b="1">
                          <a:solidFill>
                            <a:srgbClr val="FFFFFF"/>
                          </a:solidFill>
                          <a:latin typeface="Arial"/>
                        </a:defRPr>
                      </a:pPr>
                      <a:r>
                        <a:t>Chân GPIO Giám Sát</a:t>
                      </a:r>
                    </a:p>
                  </a:txBody>
                  <a:tcPr>
                    <a:solidFill>
                      <a:srgbClr val="0A2540"/>
                    </a:solidFill>
                  </a:tcPr>
                </a:tc>
                <a:tc>
                  <a:txBody>
                    <a:bodyPr/>
                    <a:lstStyle/>
                    <a:p>
                      <a:pPr>
                        <a:defRPr sz="950" b="1">
                          <a:solidFill>
                            <a:srgbClr val="FFFFFF"/>
                          </a:solidFill>
                          <a:latin typeface="Arial"/>
                        </a:defRPr>
                      </a:pPr>
                      <a:r>
                        <a:t>Sự Cố Kẹt Cơ Học / Chập GND</a:t>
                      </a:r>
                    </a:p>
                  </a:txBody>
                  <a:tcPr>
                    <a:solidFill>
                      <a:srgbClr val="0A2540"/>
                    </a:solidFill>
                  </a:tcPr>
                </a:tc>
                <a:tc>
                  <a:txBody>
                    <a:bodyPr/>
                    <a:lstStyle/>
                    <a:p>
                      <a:pPr>
                        <a:defRPr sz="950" b="1">
                          <a:solidFill>
                            <a:srgbClr val="FFFFFF"/>
                          </a:solidFill>
                          <a:latin typeface="Arial"/>
                        </a:defRPr>
                      </a:pPr>
                      <a:r>
                        <a:t>Mã DTC (SAE J2012)</a:t>
                      </a:r>
                    </a:p>
                  </a:txBody>
                  <a:tcPr>
                    <a:solidFill>
                      <a:srgbClr val="0A2540"/>
                    </a:solidFill>
                  </a:tcPr>
                </a:tc>
                <a:tc>
                  <a:txBody>
                    <a:bodyPr/>
                    <a:lstStyle/>
                    <a:p>
                      <a:pPr>
                        <a:defRPr sz="950" b="1">
                          <a:solidFill>
                            <a:srgbClr val="FFFFFF"/>
                          </a:solidFill>
                          <a:latin typeface="Arial"/>
                        </a:defRPr>
                      </a:pPr>
                      <a:r>
                        <a:t>Mức Nghiêm Trọng</a:t>
                      </a:r>
                    </a:p>
                  </a:txBody>
                  <a:tcPr>
                    <a:solidFill>
                      <a:srgbClr val="0A2540"/>
                    </a:solidFill>
                  </a:tcPr>
                </a:tc>
                <a:tc>
                  <a:txBody>
                    <a:bodyPr/>
                    <a:lstStyle/>
                    <a:p>
                      <a:pPr>
                        <a:defRPr sz="950" b="1">
                          <a:solidFill>
                            <a:srgbClr val="FFFFFF"/>
                          </a:solidFill>
                          <a:latin typeface="Arial"/>
                        </a:defRPr>
                      </a:pPr>
                      <a:r>
                        <a:t>Mã Lỗi Thu Gọn</a:t>
                      </a:r>
                    </a:p>
                  </a:txBody>
                  <a:tcPr>
                    <a:solidFill>
                      <a:srgbClr val="0A2540"/>
                    </a:solidFill>
                  </a:tcPr>
                </a:tc>
              </a:tr>
              <a:tr h="705394">
                <a:tc>
                  <a:txBody>
                    <a:bodyPr/>
                    <a:lstStyle/>
                    <a:p>
                      <a:pPr>
                        <a:defRPr sz="900">
                          <a:solidFill>
                            <a:srgbClr val="282828"/>
                          </a:solidFill>
                          <a:latin typeface="Arial"/>
                        </a:defRPr>
                      </a:pPr>
                      <a:r>
                        <a:t>PB0 (BTN_TurnLeft)</a:t>
                      </a:r>
                    </a:p>
                  </a:txBody>
                  <a:tcPr>
                    <a:solidFill>
                      <a:srgbClr val="F6F8FB"/>
                    </a:solidFill>
                  </a:tcPr>
                </a:tc>
                <a:tc>
                  <a:txBody>
                    <a:bodyPr/>
                    <a:lstStyle/>
                    <a:p>
                      <a:pPr>
                        <a:defRPr sz="900">
                          <a:solidFill>
                            <a:srgbClr val="282828"/>
                          </a:solidFill>
                          <a:latin typeface="Arial"/>
                        </a:defRPr>
                      </a:pPr>
                      <a:r>
                        <a:t>Kẹt công tắc xi-nhan Trái &gt; 1.5s</a:t>
                      </a:r>
                    </a:p>
                  </a:txBody>
                  <a:tcPr>
                    <a:solidFill>
                      <a:srgbClr val="F6F8FB"/>
                    </a:solidFill>
                  </a:tcPr>
                </a:tc>
                <a:tc>
                  <a:txBody>
                    <a:bodyPr/>
                    <a:lstStyle/>
                    <a:p>
                      <a:pPr>
                        <a:defRPr sz="900">
                          <a:solidFill>
                            <a:srgbClr val="282828"/>
                          </a:solidFill>
                          <a:latin typeface="Arial"/>
                        </a:defRPr>
                      </a:pPr>
                      <a:r>
                        <a:t>DTC_B1030 (0x1030)</a:t>
                      </a:r>
                    </a:p>
                  </a:txBody>
                  <a:tcPr>
                    <a:solidFill>
                      <a:srgbClr val="F6F8FB"/>
                    </a:solidFill>
                  </a:tcPr>
                </a:tc>
                <a:tc>
                  <a:txBody>
                    <a:bodyPr/>
                    <a:lstStyle/>
                    <a:p>
                      <a:pPr>
                        <a:defRPr sz="900">
                          <a:solidFill>
                            <a:srgbClr val="282828"/>
                          </a:solidFill>
                          <a:latin typeface="Arial"/>
                        </a:defRPr>
                      </a:pPr>
                      <a:r>
                        <a:t>DTC_SEVERITY_ERROR</a:t>
                      </a:r>
                    </a:p>
                  </a:txBody>
                  <a:tcPr>
                    <a:solidFill>
                      <a:srgbClr val="F6F8FB"/>
                    </a:solidFill>
                  </a:tcPr>
                </a:tc>
                <a:tc>
                  <a:txBody>
                    <a:bodyPr/>
                    <a:lstStyle/>
                    <a:p>
                      <a:pPr>
                        <a:defRPr sz="900">
                          <a:solidFill>
                            <a:srgbClr val="282828"/>
                          </a:solidFill>
                          <a:latin typeface="Arial"/>
                        </a:defRPr>
                      </a:pPr>
                      <a:r>
                        <a:t>ERR_ACTUATOR_STALL (0x05)</a:t>
                      </a:r>
                    </a:p>
                  </a:txBody>
                  <a:tcPr>
                    <a:solidFill>
                      <a:srgbClr val="F6F8FB"/>
                    </a:solidFill>
                  </a:tcPr>
                </a:tc>
              </a:tr>
              <a:tr h="705394">
                <a:tc>
                  <a:txBody>
                    <a:bodyPr/>
                    <a:lstStyle/>
                    <a:p>
                      <a:pPr>
                        <a:defRPr sz="900">
                          <a:solidFill>
                            <a:srgbClr val="282828"/>
                          </a:solidFill>
                          <a:latin typeface="Arial"/>
                        </a:defRPr>
                      </a:pPr>
                      <a:r>
                        <a:t>PB1 (BTN_TurnRight)</a:t>
                      </a:r>
                    </a:p>
                  </a:txBody>
                  <a:tcPr>
                    <a:solidFill>
                      <a:srgbClr val="FFFFFF"/>
                    </a:solidFill>
                  </a:tcPr>
                </a:tc>
                <a:tc>
                  <a:txBody>
                    <a:bodyPr/>
                    <a:lstStyle/>
                    <a:p>
                      <a:pPr>
                        <a:defRPr sz="900">
                          <a:solidFill>
                            <a:srgbClr val="282828"/>
                          </a:solidFill>
                          <a:latin typeface="Arial"/>
                        </a:defRPr>
                      </a:pPr>
                      <a:r>
                        <a:t>Kẹt công tắc xi-nhan Phải &gt; 1.5s</a:t>
                      </a:r>
                    </a:p>
                  </a:txBody>
                  <a:tcPr>
                    <a:solidFill>
                      <a:srgbClr val="FFFFFF"/>
                    </a:solidFill>
                  </a:tcPr>
                </a:tc>
                <a:tc>
                  <a:txBody>
                    <a:bodyPr/>
                    <a:lstStyle/>
                    <a:p>
                      <a:pPr>
                        <a:defRPr sz="900">
                          <a:solidFill>
                            <a:srgbClr val="282828"/>
                          </a:solidFill>
                          <a:latin typeface="Arial"/>
                        </a:defRPr>
                      </a:pPr>
                      <a:r>
                        <a:t>DTC_B1031 (0x1031)</a:t>
                      </a:r>
                    </a:p>
                  </a:txBody>
                  <a:tcPr>
                    <a:solidFill>
                      <a:srgbClr val="FFFFFF"/>
                    </a:solidFill>
                  </a:tcPr>
                </a:tc>
                <a:tc>
                  <a:txBody>
                    <a:bodyPr/>
                    <a:lstStyle/>
                    <a:p>
                      <a:pPr>
                        <a:defRPr sz="900">
                          <a:solidFill>
                            <a:srgbClr val="282828"/>
                          </a:solidFill>
                          <a:latin typeface="Arial"/>
                        </a:defRPr>
                      </a:pPr>
                      <a:r>
                        <a:t>DTC_SEVERITY_ERROR</a:t>
                      </a:r>
                    </a:p>
                  </a:txBody>
                  <a:tcPr>
                    <a:solidFill>
                      <a:srgbClr val="FFFFFF"/>
                    </a:solidFill>
                  </a:tcPr>
                </a:tc>
                <a:tc>
                  <a:txBody>
                    <a:bodyPr/>
                    <a:lstStyle/>
                    <a:p>
                      <a:pPr>
                        <a:defRPr sz="900">
                          <a:solidFill>
                            <a:srgbClr val="282828"/>
                          </a:solidFill>
                          <a:latin typeface="Arial"/>
                        </a:defRPr>
                      </a:pPr>
                      <a:r>
                        <a:t>ERR_ACTUATOR_STALL (0x05)</a:t>
                      </a:r>
                    </a:p>
                  </a:txBody>
                  <a:tcPr>
                    <a:solidFill>
                      <a:srgbClr val="FFFFFF"/>
                    </a:solidFill>
                  </a:tcPr>
                </a:tc>
              </a:tr>
              <a:tr h="705394">
                <a:tc>
                  <a:txBody>
                    <a:bodyPr/>
                    <a:lstStyle/>
                    <a:p>
                      <a:pPr>
                        <a:defRPr sz="900">
                          <a:solidFill>
                            <a:srgbClr val="282828"/>
                          </a:solidFill>
                          <a:latin typeface="Arial"/>
                        </a:defRPr>
                      </a:pPr>
                      <a:r>
                        <a:t>GPIOE (BTN_WiperMode)</a:t>
                      </a:r>
                    </a:p>
                  </a:txBody>
                  <a:tcPr>
                    <a:solidFill>
                      <a:srgbClr val="F6F8FB"/>
                    </a:solidFill>
                  </a:tcPr>
                </a:tc>
                <a:tc>
                  <a:txBody>
                    <a:bodyPr/>
                    <a:lstStyle/>
                    <a:p>
                      <a:pPr>
                        <a:defRPr sz="900">
                          <a:solidFill>
                            <a:srgbClr val="282828"/>
                          </a:solidFill>
                          <a:latin typeface="Arial"/>
                        </a:defRPr>
                      </a:pPr>
                      <a:r>
                        <a:t>Kẹt công tắc đổi chế độ gạt nước &gt; 1.5s</a:t>
                      </a:r>
                    </a:p>
                  </a:txBody>
                  <a:tcPr>
                    <a:solidFill>
                      <a:srgbClr val="F6F8FB"/>
                    </a:solidFill>
                  </a:tcPr>
                </a:tc>
                <a:tc>
                  <a:txBody>
                    <a:bodyPr/>
                    <a:lstStyle/>
                    <a:p>
                      <a:pPr>
                        <a:defRPr sz="900">
                          <a:solidFill>
                            <a:srgbClr val="282828"/>
                          </a:solidFill>
                          <a:latin typeface="Arial"/>
                        </a:defRPr>
                      </a:pPr>
                      <a:r>
                        <a:t>DTC_B1010 (0x1010)</a:t>
                      </a:r>
                    </a:p>
                  </a:txBody>
                  <a:tcPr>
                    <a:solidFill>
                      <a:srgbClr val="F6F8FB"/>
                    </a:solidFill>
                  </a:tcPr>
                </a:tc>
                <a:tc>
                  <a:txBody>
                    <a:bodyPr/>
                    <a:lstStyle/>
                    <a:p>
                      <a:pPr>
                        <a:defRPr sz="900">
                          <a:solidFill>
                            <a:srgbClr val="282828"/>
                          </a:solidFill>
                          <a:latin typeface="Arial"/>
                        </a:defRPr>
                      </a:pPr>
                      <a:r>
                        <a:t>DTC_SEVERITY_ERROR</a:t>
                      </a:r>
                    </a:p>
                  </a:txBody>
                  <a:tcPr>
                    <a:solidFill>
                      <a:srgbClr val="F6F8FB"/>
                    </a:solidFill>
                  </a:tcPr>
                </a:tc>
                <a:tc>
                  <a:txBody>
                    <a:bodyPr/>
                    <a:lstStyle/>
                    <a:p>
                      <a:pPr>
                        <a:defRPr sz="900">
                          <a:solidFill>
                            <a:srgbClr val="282828"/>
                          </a:solidFill>
                          <a:latin typeface="Arial"/>
                        </a:defRPr>
                      </a:pPr>
                      <a:r>
                        <a:t>ERR_WIPER_STALL (0x06)</a:t>
                      </a:r>
                    </a:p>
                  </a:txBody>
                  <a:tcPr>
                    <a:solidFill>
                      <a:srgbClr val="F6F8FB"/>
                    </a:solidFill>
                  </a:tcPr>
                </a:tc>
              </a:tr>
              <a:tr h="705394">
                <a:tc>
                  <a:txBody>
                    <a:bodyPr/>
                    <a:lstStyle/>
                    <a:p>
                      <a:pPr>
                        <a:defRPr sz="900">
                          <a:solidFill>
                            <a:srgbClr val="282828"/>
                          </a:solidFill>
                          <a:latin typeface="Arial"/>
                        </a:defRPr>
                      </a:pPr>
                      <a:r>
                        <a:t>GPIOE (BTN_CosLamp)</a:t>
                      </a:r>
                    </a:p>
                  </a:txBody>
                  <a:tcPr>
                    <a:solidFill>
                      <a:srgbClr val="FFFFFF"/>
                    </a:solidFill>
                  </a:tcPr>
                </a:tc>
                <a:tc>
                  <a:txBody>
                    <a:bodyPr/>
                    <a:lstStyle/>
                    <a:p>
                      <a:pPr>
                        <a:defRPr sz="900">
                          <a:solidFill>
                            <a:srgbClr val="282828"/>
                          </a:solidFill>
                          <a:latin typeface="Arial"/>
                        </a:defRPr>
                      </a:pPr>
                      <a:r>
                        <a:t>Kẹt công tắc đèn chiếu gần &gt; 1.5s</a:t>
                      </a:r>
                    </a:p>
                  </a:txBody>
                  <a:tcPr>
                    <a:solidFill>
                      <a:srgbClr val="FFFFFF"/>
                    </a:solidFill>
                  </a:tcPr>
                </a:tc>
                <a:tc>
                  <a:txBody>
                    <a:bodyPr/>
                    <a:lstStyle/>
                    <a:p>
                      <a:pPr>
                        <a:defRPr sz="900">
                          <a:solidFill>
                            <a:srgbClr val="282828"/>
                          </a:solidFill>
                          <a:latin typeface="Arial"/>
                        </a:defRPr>
                      </a:pPr>
                      <a:r>
                        <a:t>DTC_B1001 (0x1001)</a:t>
                      </a:r>
                    </a:p>
                  </a:txBody>
                  <a:tcPr>
                    <a:solidFill>
                      <a:srgbClr val="FFFFFF"/>
                    </a:solidFill>
                  </a:tcPr>
                </a:tc>
                <a:tc>
                  <a:txBody>
                    <a:bodyPr/>
                    <a:lstStyle/>
                    <a:p>
                      <a:pPr>
                        <a:defRPr sz="900">
                          <a:solidFill>
                            <a:srgbClr val="282828"/>
                          </a:solidFill>
                          <a:latin typeface="Arial"/>
                        </a:defRPr>
                      </a:pPr>
                      <a:r>
                        <a:t>DTC_SEVERITY_ERROR</a:t>
                      </a:r>
                    </a:p>
                  </a:txBody>
                  <a:tcPr>
                    <a:solidFill>
                      <a:srgbClr val="FFFFFF"/>
                    </a:solidFill>
                  </a:tcPr>
                </a:tc>
                <a:tc>
                  <a:txBody>
                    <a:bodyPr/>
                    <a:lstStyle/>
                    <a:p>
                      <a:pPr>
                        <a:defRPr sz="900">
                          <a:solidFill>
                            <a:srgbClr val="282828"/>
                          </a:solidFill>
                          <a:latin typeface="Arial"/>
                        </a:defRPr>
                      </a:pPr>
                      <a:r>
                        <a:t>ERR_ACTUATOR_STALL (0x05)</a:t>
                      </a:r>
                    </a:p>
                  </a:txBody>
                  <a:tcPr>
                    <a:solidFill>
                      <a:srgbClr val="FFFFFF"/>
                    </a:solidFill>
                  </a:tcPr>
                </a:tc>
              </a:tr>
              <a:tr h="705394">
                <a:tc>
                  <a:txBody>
                    <a:bodyPr/>
                    <a:lstStyle/>
                    <a:p>
                      <a:pPr>
                        <a:defRPr sz="900">
                          <a:solidFill>
                            <a:srgbClr val="282828"/>
                          </a:solidFill>
                          <a:latin typeface="Arial"/>
                        </a:defRPr>
                      </a:pPr>
                      <a:r>
                        <a:t>GPIOE (BTN_HeadLamp)</a:t>
                      </a:r>
                    </a:p>
                  </a:txBody>
                  <a:tcPr>
                    <a:solidFill>
                      <a:srgbClr val="F6F8FB"/>
                    </a:solidFill>
                  </a:tcPr>
                </a:tc>
                <a:tc>
                  <a:txBody>
                    <a:bodyPr/>
                    <a:lstStyle/>
                    <a:p>
                      <a:pPr>
                        <a:defRPr sz="900">
                          <a:solidFill>
                            <a:srgbClr val="282828"/>
                          </a:solidFill>
                          <a:latin typeface="Arial"/>
                        </a:defRPr>
                      </a:pPr>
                      <a:r>
                        <a:t>Kẹt công tắc đèn chiếu xa &gt; 1.5s</a:t>
                      </a:r>
                    </a:p>
                  </a:txBody>
                  <a:tcPr>
                    <a:solidFill>
                      <a:srgbClr val="F6F8FB"/>
                    </a:solidFill>
                  </a:tcPr>
                </a:tc>
                <a:tc>
                  <a:txBody>
                    <a:bodyPr/>
                    <a:lstStyle/>
                    <a:p>
                      <a:pPr>
                        <a:defRPr sz="900">
                          <a:solidFill>
                            <a:srgbClr val="282828"/>
                          </a:solidFill>
                          <a:latin typeface="Arial"/>
                        </a:defRPr>
                      </a:pPr>
                      <a:r>
                        <a:t>DTC_B1002 (0x1002)</a:t>
                      </a:r>
                    </a:p>
                  </a:txBody>
                  <a:tcPr>
                    <a:solidFill>
                      <a:srgbClr val="F6F8FB"/>
                    </a:solidFill>
                  </a:tcPr>
                </a:tc>
                <a:tc>
                  <a:txBody>
                    <a:bodyPr/>
                    <a:lstStyle/>
                    <a:p>
                      <a:pPr>
                        <a:defRPr sz="900">
                          <a:solidFill>
                            <a:srgbClr val="282828"/>
                          </a:solidFill>
                          <a:latin typeface="Arial"/>
                        </a:defRPr>
                      </a:pPr>
                      <a:r>
                        <a:t>DTC_SEVERITY_ERROR</a:t>
                      </a:r>
                    </a:p>
                  </a:txBody>
                  <a:tcPr>
                    <a:solidFill>
                      <a:srgbClr val="F6F8FB"/>
                    </a:solidFill>
                  </a:tcPr>
                </a:tc>
                <a:tc>
                  <a:txBody>
                    <a:bodyPr/>
                    <a:lstStyle/>
                    <a:p>
                      <a:pPr>
                        <a:defRPr sz="900">
                          <a:solidFill>
                            <a:srgbClr val="282828"/>
                          </a:solidFill>
                          <a:latin typeface="Arial"/>
                        </a:defRPr>
                      </a:pPr>
                      <a:r>
                        <a:t>ERR_ACTUATOR_STALL (0x05)</a:t>
                      </a:r>
                    </a:p>
                  </a:txBody>
                  <a:tcPr>
                    <a:solidFill>
                      <a:srgbClr val="F6F8FB"/>
                    </a:solidFill>
                  </a:tcPr>
                </a:tc>
              </a:tr>
              <a:tr h="705396">
                <a:tc>
                  <a:txBody>
                    <a:bodyPr/>
                    <a:lstStyle/>
                    <a:p>
                      <a:pPr>
                        <a:defRPr sz="900">
                          <a:solidFill>
                            <a:srgbClr val="282828"/>
                          </a:solidFill>
                          <a:latin typeface="Arial"/>
                        </a:defRPr>
                      </a:pPr>
                      <a:r>
                        <a:t>GPIOE (BTN_FogLamp)</a:t>
                      </a:r>
                    </a:p>
                  </a:txBody>
                  <a:tcPr>
                    <a:solidFill>
                      <a:srgbClr val="FFFFFF"/>
                    </a:solidFill>
                  </a:tcPr>
                </a:tc>
                <a:tc>
                  <a:txBody>
                    <a:bodyPr/>
                    <a:lstStyle/>
                    <a:p>
                      <a:pPr>
                        <a:defRPr sz="900">
                          <a:solidFill>
                            <a:srgbClr val="282828"/>
                          </a:solidFill>
                          <a:latin typeface="Arial"/>
                        </a:defRPr>
                      </a:pPr>
                      <a:r>
                        <a:t>Kẹt công tắc đèn sương mù &gt; 1.5s</a:t>
                      </a:r>
                    </a:p>
                  </a:txBody>
                  <a:tcPr>
                    <a:solidFill>
                      <a:srgbClr val="FFFFFF"/>
                    </a:solidFill>
                  </a:tcPr>
                </a:tc>
                <a:tc>
                  <a:txBody>
                    <a:bodyPr/>
                    <a:lstStyle/>
                    <a:p>
                      <a:pPr>
                        <a:defRPr sz="900">
                          <a:solidFill>
                            <a:srgbClr val="282828"/>
                          </a:solidFill>
                          <a:latin typeface="Arial"/>
                        </a:defRPr>
                      </a:pPr>
                      <a:r>
                        <a:t>DTC_B1004 (0x1004)</a:t>
                      </a:r>
                    </a:p>
                  </a:txBody>
                  <a:tcPr>
                    <a:solidFill>
                      <a:srgbClr val="FFFFFF"/>
                    </a:solidFill>
                  </a:tcPr>
                </a:tc>
                <a:tc>
                  <a:txBody>
                    <a:bodyPr/>
                    <a:lstStyle/>
                    <a:p>
                      <a:pPr>
                        <a:defRPr sz="900">
                          <a:solidFill>
                            <a:srgbClr val="282828"/>
                          </a:solidFill>
                          <a:latin typeface="Arial"/>
                        </a:defRPr>
                      </a:pPr>
                      <a:r>
                        <a:t>DTC_SEVERITY_ERROR</a:t>
                      </a:r>
                    </a:p>
                  </a:txBody>
                  <a:tcPr>
                    <a:solidFill>
                      <a:srgbClr val="FFFFFF"/>
                    </a:solidFill>
                  </a:tcPr>
                </a:tc>
                <a:tc>
                  <a:txBody>
                    <a:bodyPr/>
                    <a:lstStyle/>
                    <a:p>
                      <a:pPr>
                        <a:defRPr sz="900">
                          <a:solidFill>
                            <a:srgbClr val="282828"/>
                          </a:solidFill>
                          <a:latin typeface="Arial"/>
                        </a:defRPr>
                      </a:pPr>
                      <a:r>
                        <a:t>ERR_ACTUATOR_STALL (0x05)</a:t>
                      </a:r>
                    </a:p>
                  </a:txBody>
                  <a:tcP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r>
              <a:rPr sz="1000" b="1">
                <a:solidFill>
                  <a:srgbClr val="00A8CC"/>
                </a:solidFill>
                <a:latin typeface="Arial"/>
              </a:rPr>
              <a:t>FRONT BCM FIRMWARE | SOFTWARE DESIGN</a:t>
            </a:r>
          </a:p>
        </p:txBody>
      </p:sp>
      <p:sp>
        <p:nvSpPr>
          <p:cNvPr id="4" name="TextBox 3"/>
          <p:cNvSpPr txBox="1"/>
          <p:nvPr/>
        </p:nvSpPr>
        <p:spPr>
          <a:xfrm>
            <a:off x="731520" y="347472"/>
            <a:ext cx="10515600" cy="594360"/>
          </a:xfrm>
          <a:prstGeom prst="rect">
            <a:avLst/>
          </a:prstGeom>
          <a:noFill/>
        </p:spPr>
        <p:txBody>
          <a:bodyPr wrap="none">
            <a:spAutoFit/>
          </a:bodyPr>
          <a:lstStyle/>
          <a:p>
            <a:r>
              <a:rPr sz="2000" b="1">
                <a:solidFill>
                  <a:srgbClr val="FFFFFF"/>
                </a:solidFill>
                <a:latin typeface="Arial"/>
              </a:rPr>
              <a:t>9. KẾT QUẢ ĐO KIỂM THỰC NGHIỆM VÀ ĐÁNH GIÁ CHỈ SỐ KỸ THUẬT</a:t>
            </a:r>
          </a:p>
        </p:txBody>
      </p:sp>
      <p:sp>
        <p:nvSpPr>
          <p:cNvPr id="5" name="Rounded Rectangle 4"/>
          <p:cNvSpPr/>
          <p:nvPr/>
        </p:nvSpPr>
        <p:spPr>
          <a:xfrm>
            <a:off x="731520" y="1371600"/>
            <a:ext cx="3383280" cy="4937760"/>
          </a:xfrm>
          <a:prstGeom prst="roundRect">
            <a:avLst/>
          </a:prstGeom>
          <a:solidFill>
            <a:srgbClr val="FFFFFF"/>
          </a:solidFill>
          <a:ln w="1524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3017520" cy="411480"/>
          </a:xfrm>
          <a:prstGeom prst="rect">
            <a:avLst/>
          </a:prstGeom>
          <a:noFill/>
        </p:spPr>
        <p:txBody>
          <a:bodyPr wrap="none">
            <a:spAutoFit/>
          </a:bodyPr>
          <a:lstStyle/>
          <a:p>
            <a:r>
              <a:rPr sz="1300" b="1">
                <a:solidFill>
                  <a:srgbClr val="0066CC"/>
                </a:solidFill>
                <a:latin typeface="Arial"/>
              </a:rPr>
              <a:t>ĐỘ TRỄ PHẢN HỒI BIÊN</a:t>
            </a:r>
          </a:p>
        </p:txBody>
      </p:sp>
      <p:sp>
        <p:nvSpPr>
          <p:cNvPr id="7" name="TextBox 6"/>
          <p:cNvSpPr txBox="1"/>
          <p:nvPr/>
        </p:nvSpPr>
        <p:spPr>
          <a:xfrm>
            <a:off x="914400" y="1920240"/>
            <a:ext cx="3017520" cy="4206240"/>
          </a:xfrm>
          <a:prstGeom prst="rect">
            <a:avLst/>
          </a:prstGeom>
          <a:noFill/>
        </p:spPr>
        <p:txBody>
          <a:bodyPr wrap="square">
            <a:spAutoFit/>
          </a:bodyPr>
          <a:lstStyle/>
          <a:p>
            <a:pPr>
              <a:lnSpc>
                <a:spcPct val="125000"/>
              </a:lnSpc>
              <a:defRPr sz="1100">
                <a:solidFill>
                  <a:srgbClr val="282828"/>
                </a:solidFill>
                <a:latin typeface="Arial"/>
              </a:defRPr>
            </a:pPr>
            <a:r>
              <a:t>• Kết quả đo Logic Analyzer:</a:t>
            </a:r>
          </a:p>
          <a:p>
            <a:pPr>
              <a:lnSpc>
                <a:spcPct val="125000"/>
              </a:lnSpc>
              <a:defRPr sz="1100">
                <a:solidFill>
                  <a:srgbClr val="282828"/>
                </a:solidFill>
                <a:latin typeface="Arial"/>
              </a:defRPr>
            </a:pPr>
          </a:p>
          <a:p>
            <a:pPr>
              <a:lnSpc>
                <a:spcPct val="125000"/>
              </a:lnSpc>
              <a:defRPr sz="1100">
                <a:solidFill>
                  <a:srgbClr val="282828"/>
                </a:solidFill>
                <a:latin typeface="Arial"/>
              </a:defRPr>
            </a:pPr>
            <a:r>
              <a:t>  1. Lọc chống rung phím: 30.0 ms</a:t>
            </a:r>
          </a:p>
          <a:p>
            <a:pPr>
              <a:lnSpc>
                <a:spcPct val="125000"/>
              </a:lnSpc>
              <a:defRPr sz="1100">
                <a:solidFill>
                  <a:srgbClr val="282828"/>
                </a:solidFill>
                <a:latin typeface="Arial"/>
              </a:defRPr>
            </a:pPr>
            <a:r>
              <a:t>  2. Đóng gói UART F411: 0.43 ms</a:t>
            </a:r>
          </a:p>
          <a:p>
            <a:pPr>
              <a:lnSpc>
                <a:spcPct val="125000"/>
              </a:lnSpc>
              <a:defRPr sz="1100">
                <a:solidFill>
                  <a:srgbClr val="282828"/>
                </a:solidFill>
                <a:latin typeface="Arial"/>
              </a:defRPr>
            </a:pPr>
            <a:r>
              <a:t>  3. Định tuyến F103: 0.12 ms</a:t>
            </a:r>
          </a:p>
          <a:p>
            <a:pPr>
              <a:lnSpc>
                <a:spcPct val="125000"/>
              </a:lnSpc>
              <a:defRPr sz="1100">
                <a:solidFill>
                  <a:srgbClr val="282828"/>
                </a:solidFill>
                <a:latin typeface="Arial"/>
              </a:defRPr>
            </a:pPr>
            <a:r>
              <a:t>  4. Chiếm bus CAN: 0.26 ms</a:t>
            </a:r>
          </a:p>
          <a:p>
            <a:pPr>
              <a:lnSpc>
                <a:spcPct val="125000"/>
              </a:lnSpc>
              <a:defRPr sz="1100">
                <a:solidFill>
                  <a:srgbClr val="282828"/>
                </a:solidFill>
                <a:latin typeface="Arial"/>
              </a:defRPr>
            </a:pPr>
          </a:p>
          <a:p>
            <a:pPr>
              <a:lnSpc>
                <a:spcPct val="125000"/>
              </a:lnSpc>
              <a:defRPr sz="1100">
                <a:solidFill>
                  <a:srgbClr val="282828"/>
                </a:solidFill>
                <a:latin typeface="Arial"/>
              </a:defRPr>
            </a:pPr>
            <a:r>
              <a:t>-&gt; ĐỘ TRỄ TẠI BIÊN: 30.81 ms</a:t>
            </a:r>
          </a:p>
          <a:p>
            <a:pPr>
              <a:lnSpc>
                <a:spcPct val="125000"/>
              </a:lnSpc>
              <a:defRPr sz="1100">
                <a:solidFill>
                  <a:srgbClr val="282828"/>
                </a:solidFill>
                <a:latin typeface="Arial"/>
              </a:defRPr>
            </a:pPr>
            <a:r>
              <a:t>-&gt; ĐỘ TRỄ TOÀN TRÌNH: 33.8 ms</a:t>
            </a:r>
          </a:p>
          <a:p>
            <a:pPr>
              <a:lnSpc>
                <a:spcPct val="125000"/>
              </a:lnSpc>
              <a:defRPr sz="1100">
                <a:solidFill>
                  <a:srgbClr val="282828"/>
                </a:solidFill>
                <a:latin typeface="Arial"/>
              </a:defRPr>
            </a:pPr>
          </a:p>
          <a:p>
            <a:pPr>
              <a:lnSpc>
                <a:spcPct val="125000"/>
              </a:lnSpc>
              <a:defRPr sz="1100">
                <a:solidFill>
                  <a:srgbClr val="282828"/>
                </a:solidFill>
                <a:latin typeface="Arial"/>
              </a:defRPr>
            </a:pPr>
            <a:r>
              <a:t>Vượt xa ngưỡng tiêu chuẩn ô tô (&lt; 45 ms)!</a:t>
            </a:r>
          </a:p>
        </p:txBody>
      </p:sp>
      <p:sp>
        <p:nvSpPr>
          <p:cNvPr id="8" name="Rounded Rectangle 7"/>
          <p:cNvSpPr/>
          <p:nvPr/>
        </p:nvSpPr>
        <p:spPr>
          <a:xfrm>
            <a:off x="4389120" y="1371600"/>
            <a:ext cx="3474720" cy="4937760"/>
          </a:xfrm>
          <a:prstGeom prst="roundRect">
            <a:avLst/>
          </a:prstGeom>
          <a:solidFill>
            <a:srgbClr val="FFFFFF"/>
          </a:solidFill>
          <a:ln w="1524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508760"/>
            <a:ext cx="3108960" cy="411480"/>
          </a:xfrm>
          <a:prstGeom prst="rect">
            <a:avLst/>
          </a:prstGeom>
          <a:noFill/>
        </p:spPr>
        <p:txBody>
          <a:bodyPr wrap="none">
            <a:spAutoFit/>
          </a:bodyPr>
          <a:lstStyle/>
          <a:p>
            <a:r>
              <a:rPr sz="1300" b="1">
                <a:solidFill>
                  <a:srgbClr val="DC2626"/>
                </a:solidFill>
                <a:latin typeface="Arial"/>
              </a:rPr>
              <a:t>KIỂM THỬ TIÊM LỖI (FAULT INJECTION)</a:t>
            </a:r>
          </a:p>
        </p:txBody>
      </p:sp>
      <p:sp>
        <p:nvSpPr>
          <p:cNvPr id="10" name="TextBox 9"/>
          <p:cNvSpPr txBox="1"/>
          <p:nvPr/>
        </p:nvSpPr>
        <p:spPr>
          <a:xfrm>
            <a:off x="4572000" y="1920240"/>
            <a:ext cx="3108960" cy="4206240"/>
          </a:xfrm>
          <a:prstGeom prst="rect">
            <a:avLst/>
          </a:prstGeom>
          <a:noFill/>
        </p:spPr>
        <p:txBody>
          <a:bodyPr wrap="square">
            <a:spAutoFit/>
          </a:bodyPr>
          <a:lstStyle/>
          <a:p>
            <a:pPr>
              <a:lnSpc>
                <a:spcPct val="120000"/>
              </a:lnSpc>
              <a:defRPr sz="1050">
                <a:solidFill>
                  <a:srgbClr val="282828"/>
                </a:solidFill>
                <a:latin typeface="Arial"/>
              </a:defRPr>
            </a:pPr>
            <a:r>
              <a:t>• Thử nghiệm 1: Cạn nước rửa kính</a:t>
            </a:r>
          </a:p>
          <a:p>
            <a:pPr>
              <a:lnSpc>
                <a:spcPct val="120000"/>
              </a:lnSpc>
              <a:defRPr sz="1050">
                <a:solidFill>
                  <a:srgbClr val="282828"/>
                </a:solidFill>
                <a:latin typeface="Arial"/>
              </a:defRPr>
            </a:pPr>
            <a:r>
              <a:t>  Rút phao PE9 -&gt; Đúng 300ms sau dập tắt PWM bơm về 0, phát DTC B1012, bơm khóa cứng chính xác 100%.</a:t>
            </a:r>
          </a:p>
          <a:p>
            <a:pPr>
              <a:lnSpc>
                <a:spcPct val="120000"/>
              </a:lnSpc>
              <a:defRPr sz="1050">
                <a:solidFill>
                  <a:srgbClr val="282828"/>
                </a:solidFill>
                <a:latin typeface="Arial"/>
              </a:defRPr>
            </a:pPr>
          </a:p>
          <a:p>
            <a:pPr>
              <a:lnSpc>
                <a:spcPct val="120000"/>
              </a:lnSpc>
              <a:defRPr sz="1050">
                <a:solidFill>
                  <a:srgbClr val="282828"/>
                </a:solidFill>
                <a:latin typeface="Arial"/>
              </a:defRPr>
            </a:pPr>
            <a:r>
              <a:t>• Thử nghiệm 2: Nhiễu đứt cáp UART</a:t>
            </a:r>
          </a:p>
          <a:p>
            <a:pPr>
              <a:lnSpc>
                <a:spcPct val="120000"/>
              </a:lnSpc>
              <a:defRPr sz="1050">
                <a:solidFill>
                  <a:srgbClr val="282828"/>
                </a:solidFill>
                <a:latin typeface="Arial"/>
              </a:defRPr>
            </a:pPr>
            <a:r>
              <a:t>  Ngắt cáp 100ms -&gt; Cơ chế Timeout 25ms tự xóa byte rác, khôi phục đồng bộ hoàn hảo.</a:t>
            </a:r>
          </a:p>
          <a:p>
            <a:pPr>
              <a:lnSpc>
                <a:spcPct val="120000"/>
              </a:lnSpc>
              <a:defRPr sz="1050">
                <a:solidFill>
                  <a:srgbClr val="282828"/>
                </a:solidFill>
                <a:latin typeface="Arial"/>
              </a:defRPr>
            </a:pPr>
          </a:p>
          <a:p>
            <a:pPr>
              <a:lnSpc>
                <a:spcPct val="120000"/>
              </a:lnSpc>
              <a:defRPr sz="1050">
                <a:solidFill>
                  <a:srgbClr val="282828"/>
                </a:solidFill>
                <a:latin typeface="Arial"/>
              </a:defRPr>
            </a:pPr>
            <a:r>
              <a:t>• Thử nghiệm 3: Kẹt phím đèn</a:t>
            </a:r>
          </a:p>
          <a:p>
            <a:pPr>
              <a:lnSpc>
                <a:spcPct val="120000"/>
              </a:lnSpc>
              <a:defRPr sz="1050">
                <a:solidFill>
                  <a:srgbClr val="282828"/>
                </a:solidFill>
                <a:latin typeface="Arial"/>
              </a:defRPr>
            </a:pPr>
            <a:r>
              <a:t>  Đè nút &gt; 1.5s -&gt; Sáng LED lỗi PE7, bắn CAN 0x500 phát sinh Banner đỏ trên Qt Dashboard.</a:t>
            </a:r>
          </a:p>
        </p:txBody>
      </p:sp>
      <p:sp>
        <p:nvSpPr>
          <p:cNvPr id="11" name="Rounded Rectangle 10"/>
          <p:cNvSpPr/>
          <p:nvPr/>
        </p:nvSpPr>
        <p:spPr>
          <a:xfrm>
            <a:off x="8138160" y="1371600"/>
            <a:ext cx="3291840" cy="4937760"/>
          </a:xfrm>
          <a:prstGeom prst="roundRect">
            <a:avLst/>
          </a:prstGeom>
          <a:solidFill>
            <a:srgbClr val="FFFFFF"/>
          </a:solidFill>
          <a:ln w="1524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1508760"/>
            <a:ext cx="2926080" cy="411480"/>
          </a:xfrm>
          <a:prstGeom prst="rect">
            <a:avLst/>
          </a:prstGeom>
          <a:noFill/>
        </p:spPr>
        <p:txBody>
          <a:bodyPr wrap="none">
            <a:spAutoFit/>
          </a:bodyPr>
          <a:lstStyle/>
          <a:p>
            <a:r>
              <a:rPr sz="1300" b="1">
                <a:solidFill>
                  <a:srgbClr val="10B981"/>
                </a:solidFill>
                <a:latin typeface="Arial"/>
              </a:rPr>
              <a:t>TÀI NGUYÊN &amp; TẢI CPU</a:t>
            </a:r>
          </a:p>
        </p:txBody>
      </p:sp>
      <p:sp>
        <p:nvSpPr>
          <p:cNvPr id="13" name="TextBox 12"/>
          <p:cNvSpPr txBox="1"/>
          <p:nvPr/>
        </p:nvSpPr>
        <p:spPr>
          <a:xfrm>
            <a:off x="8321040" y="1920240"/>
            <a:ext cx="2926080" cy="4206240"/>
          </a:xfrm>
          <a:prstGeom prst="rect">
            <a:avLst/>
          </a:prstGeom>
          <a:noFill/>
        </p:spPr>
        <p:txBody>
          <a:bodyPr wrap="square">
            <a:spAutoFit/>
          </a:bodyPr>
          <a:lstStyle/>
          <a:p>
            <a:pPr>
              <a:lnSpc>
                <a:spcPct val="120000"/>
              </a:lnSpc>
              <a:defRPr sz="1100">
                <a:solidFill>
                  <a:srgbClr val="282828"/>
                </a:solidFill>
                <a:latin typeface="Arial"/>
              </a:defRPr>
            </a:pPr>
            <a:r>
              <a:t>• Translator Node (F103):</a:t>
            </a:r>
          </a:p>
          <a:p>
            <a:pPr>
              <a:lnSpc>
                <a:spcPct val="120000"/>
              </a:lnSpc>
              <a:defRPr sz="1100">
                <a:solidFill>
                  <a:srgbClr val="282828"/>
                </a:solidFill>
                <a:latin typeface="Arial"/>
              </a:defRPr>
            </a:pPr>
            <a:r>
              <a:t>  - Flash: 14.2 KB (22.1%)</a:t>
            </a:r>
          </a:p>
          <a:p>
            <a:pPr>
              <a:lnSpc>
                <a:spcPct val="120000"/>
              </a:lnSpc>
              <a:defRPr sz="1100">
                <a:solidFill>
                  <a:srgbClr val="282828"/>
                </a:solidFill>
                <a:latin typeface="Arial"/>
              </a:defRPr>
            </a:pPr>
            <a:r>
              <a:t>  - SRAM: 2.8 KB (14.0%)</a:t>
            </a:r>
          </a:p>
          <a:p>
            <a:pPr>
              <a:lnSpc>
                <a:spcPct val="120000"/>
              </a:lnSpc>
              <a:defRPr sz="1100">
                <a:solidFill>
                  <a:srgbClr val="282828"/>
                </a:solidFill>
                <a:latin typeface="Arial"/>
              </a:defRPr>
            </a:pPr>
            <a:r>
              <a:t>  - Tải CPU: &lt; 4.5% (Ngắt 100%)</a:t>
            </a:r>
          </a:p>
          <a:p>
            <a:pPr>
              <a:lnSpc>
                <a:spcPct val="120000"/>
              </a:lnSpc>
              <a:defRPr sz="1100">
                <a:solidFill>
                  <a:srgbClr val="282828"/>
                </a:solidFill>
                <a:latin typeface="Arial"/>
              </a:defRPr>
            </a:pPr>
          </a:p>
          <a:p>
            <a:pPr>
              <a:lnSpc>
                <a:spcPct val="120000"/>
              </a:lnSpc>
              <a:defRPr sz="1100">
                <a:solidFill>
                  <a:srgbClr val="282828"/>
                </a:solidFill>
                <a:latin typeface="Arial"/>
              </a:defRPr>
            </a:pPr>
            <a:r>
              <a:t>• Actuator Node (F411):</a:t>
            </a:r>
          </a:p>
          <a:p>
            <a:pPr>
              <a:lnSpc>
                <a:spcPct val="120000"/>
              </a:lnSpc>
              <a:defRPr sz="1100">
                <a:solidFill>
                  <a:srgbClr val="282828"/>
                </a:solidFill>
                <a:latin typeface="Arial"/>
              </a:defRPr>
            </a:pPr>
            <a:r>
              <a:t>  - Flash: 28.6 KB (5.5%)</a:t>
            </a:r>
          </a:p>
          <a:p>
            <a:pPr>
              <a:lnSpc>
                <a:spcPct val="120000"/>
              </a:lnSpc>
              <a:defRPr sz="1100">
                <a:solidFill>
                  <a:srgbClr val="282828"/>
                </a:solidFill>
                <a:latin typeface="Arial"/>
              </a:defRPr>
            </a:pPr>
            <a:r>
              <a:t>  - SRAM: 6.4 KB (5.0%)</a:t>
            </a:r>
          </a:p>
          <a:p>
            <a:pPr>
              <a:lnSpc>
                <a:spcPct val="120000"/>
              </a:lnSpc>
              <a:defRPr sz="1100">
                <a:solidFill>
                  <a:srgbClr val="282828"/>
                </a:solidFill>
                <a:latin typeface="Arial"/>
              </a:defRPr>
            </a:pPr>
            <a:r>
              <a:t>  - Tải CPU: &lt; 8.2% (DMA hỗ trợ)</a:t>
            </a:r>
          </a:p>
          <a:p>
            <a:pPr>
              <a:lnSpc>
                <a:spcPct val="120000"/>
              </a:lnSpc>
              <a:defRPr sz="1100">
                <a:solidFill>
                  <a:srgbClr val="282828"/>
                </a:solidFill>
                <a:latin typeface="Arial"/>
              </a:defRPr>
            </a:pPr>
          </a:p>
          <a:p>
            <a:pPr>
              <a:lnSpc>
                <a:spcPct val="120000"/>
              </a:lnSpc>
              <a:defRPr sz="1100">
                <a:solidFill>
                  <a:srgbClr val="282828"/>
                </a:solidFill>
                <a:latin typeface="Arial"/>
              </a:defRPr>
            </a:pPr>
            <a:r>
              <a:t>-&gt; Hệ thống hoạt động mát mẻ, ổn định liên tục sau 100,000 khung truyền không rớt gói!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none">
            <a:spAutoFit/>
          </a:bodyPr>
          <a:lstStyle/>
          <a:p>
            <a:r>
              <a:rPr sz="1000" b="1">
                <a:solidFill>
                  <a:srgbClr val="00A8CC"/>
                </a:solidFill>
                <a:latin typeface="Arial"/>
              </a:rPr>
              <a:t>FRONT BCM FIRMWARE | SOFTWARE DESIGN</a:t>
            </a:r>
          </a:p>
        </p:txBody>
      </p:sp>
      <p:sp>
        <p:nvSpPr>
          <p:cNvPr id="4" name="TextBox 3"/>
          <p:cNvSpPr txBox="1"/>
          <p:nvPr/>
        </p:nvSpPr>
        <p:spPr>
          <a:xfrm>
            <a:off x="731520" y="347472"/>
            <a:ext cx="10515600" cy="594360"/>
          </a:xfrm>
          <a:prstGeom prst="rect">
            <a:avLst/>
          </a:prstGeom>
          <a:noFill/>
        </p:spPr>
        <p:txBody>
          <a:bodyPr wrap="none">
            <a:spAutoFit/>
          </a:bodyPr>
          <a:lstStyle/>
          <a:p>
            <a:r>
              <a:rPr sz="2000" b="1">
                <a:solidFill>
                  <a:srgbClr val="FFFFFF"/>
                </a:solidFill>
                <a:latin typeface="Arial"/>
              </a:rPr>
              <a:t>10. KẾT LUẬN ĐÓNG GÓP KỸ THUẬT CỦA PHÂN HỆ FRONT BCM</a:t>
            </a:r>
          </a:p>
        </p:txBody>
      </p:sp>
      <p:sp>
        <p:nvSpPr>
          <p:cNvPr id="5" name="Rounded Rectangle 4"/>
          <p:cNvSpPr/>
          <p:nvPr/>
        </p:nvSpPr>
        <p:spPr>
          <a:xfrm>
            <a:off x="731520" y="1371600"/>
            <a:ext cx="5120640" cy="4937760"/>
          </a:xfrm>
          <a:prstGeom prst="roundRect">
            <a:avLst/>
          </a:prstGeom>
          <a:solidFill>
            <a:srgbClr val="FFFFFF"/>
          </a:solidFill>
          <a:ln w="1524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4754880" cy="411480"/>
          </a:xfrm>
          <a:prstGeom prst="rect">
            <a:avLst/>
          </a:prstGeom>
          <a:noFill/>
        </p:spPr>
        <p:txBody>
          <a:bodyPr wrap="none">
            <a:spAutoFit/>
          </a:bodyPr>
          <a:lstStyle/>
          <a:p>
            <a:r>
              <a:rPr sz="1300" b="1">
                <a:solidFill>
                  <a:srgbClr val="0066CC"/>
                </a:solidFill>
                <a:latin typeface="Arial"/>
              </a:rPr>
              <a:t>ĐÓNG GÓP CỐT LÕI CỦA KỸ SƯ NGUYỄN QUỐC ĐẠT</a:t>
            </a:r>
          </a:p>
        </p:txBody>
      </p:sp>
      <p:sp>
        <p:nvSpPr>
          <p:cNvPr id="7" name="TextBox 6"/>
          <p:cNvSpPr txBox="1"/>
          <p:nvPr/>
        </p:nvSpPr>
        <p:spPr>
          <a:xfrm>
            <a:off x="914400" y="1920240"/>
            <a:ext cx="4754880" cy="4206240"/>
          </a:xfrm>
          <a:prstGeom prst="rect">
            <a:avLst/>
          </a:prstGeom>
          <a:noFill/>
        </p:spPr>
        <p:txBody>
          <a:bodyPr wrap="square">
            <a:spAutoFit/>
          </a:bodyPr>
          <a:lstStyle/>
          <a:p>
            <a:pPr>
              <a:lnSpc>
                <a:spcPct val="120000"/>
              </a:lnSpc>
              <a:defRPr sz="1100">
                <a:solidFill>
                  <a:srgbClr val="282828"/>
                </a:solidFill>
                <a:latin typeface="Arial"/>
              </a:defRPr>
            </a:pPr>
            <a:r>
              <a:t>1. Kiến trúc Dual-MCU cách ly an toàn:</a:t>
            </a:r>
          </a:p>
          <a:p>
            <a:pPr>
              <a:lnSpc>
                <a:spcPct val="120000"/>
              </a:lnSpc>
              <a:defRPr sz="1100">
                <a:solidFill>
                  <a:srgbClr val="282828"/>
                </a:solidFill>
                <a:latin typeface="Arial"/>
              </a:defRPr>
            </a:pPr>
            <a:r>
              <a:t>   Tách biệt lớp mạng CAN tốc độ cao và lớp chấp hành phần cứng, loại trừ rủi ro sập bus CAN do xung ngược.</a:t>
            </a:r>
          </a:p>
          <a:p>
            <a:pPr>
              <a:lnSpc>
                <a:spcPct val="120000"/>
              </a:lnSpc>
              <a:defRPr sz="1100">
                <a:solidFill>
                  <a:srgbClr val="282828"/>
                </a:solidFill>
                <a:latin typeface="Arial"/>
              </a:defRPr>
            </a:pPr>
          </a:p>
          <a:p>
            <a:pPr>
              <a:lnSpc>
                <a:spcPct val="120000"/>
              </a:lnSpc>
              <a:defRPr sz="1100">
                <a:solidFill>
                  <a:srgbClr val="282828"/>
                </a:solidFill>
                <a:latin typeface="Arial"/>
              </a:defRPr>
            </a:pPr>
            <a:r>
              <a:t>2. Sáng tạo giải thuật Change-Detection:</a:t>
            </a:r>
          </a:p>
          <a:p>
            <a:pPr>
              <a:lnSpc>
                <a:spcPct val="120000"/>
              </a:lnSpc>
              <a:defRPr sz="1100">
                <a:solidFill>
                  <a:srgbClr val="282828"/>
                </a:solidFill>
                <a:latin typeface="Arial"/>
              </a:defRPr>
            </a:pPr>
            <a:r>
              <a:t>   Dùng Shadow Copies triệt tiêu &gt; 80% tải giao tiếp UART dư thừa.</a:t>
            </a:r>
          </a:p>
          <a:p>
            <a:pPr>
              <a:lnSpc>
                <a:spcPct val="120000"/>
              </a:lnSpc>
              <a:defRPr sz="1100">
                <a:solidFill>
                  <a:srgbClr val="282828"/>
                </a:solidFill>
                <a:latin typeface="Arial"/>
              </a:defRPr>
            </a:pPr>
          </a:p>
          <a:p>
            <a:pPr>
              <a:lnSpc>
                <a:spcPct val="120000"/>
              </a:lnSpc>
              <a:defRPr sz="1100">
                <a:solidFill>
                  <a:srgbClr val="282828"/>
                </a:solidFill>
                <a:latin typeface="Arial"/>
              </a:defRPr>
            </a:pPr>
            <a:r>
              <a:t>3. Thiết kế giao thức UART tự phục hồi (Self-Healing):</a:t>
            </a:r>
          </a:p>
          <a:p>
            <a:pPr>
              <a:lnSpc>
                <a:spcPct val="120000"/>
              </a:lnSpc>
              <a:defRPr sz="1100">
                <a:solidFill>
                  <a:srgbClr val="282828"/>
                </a:solidFill>
                <a:latin typeface="Arial"/>
              </a:defRPr>
            </a:pPr>
            <a:r>
              <a:t>   Khắc phục hoàn toàn lỗi trôi khung với Timeout 25ms và giải phóng cờ tràn ORE.</a:t>
            </a:r>
          </a:p>
          <a:p>
            <a:pPr>
              <a:lnSpc>
                <a:spcPct val="120000"/>
              </a:lnSpc>
              <a:defRPr sz="1100">
                <a:solidFill>
                  <a:srgbClr val="282828"/>
                </a:solidFill>
                <a:latin typeface="Arial"/>
              </a:defRPr>
            </a:pPr>
          </a:p>
          <a:p>
            <a:pPr>
              <a:lnSpc>
                <a:spcPct val="120000"/>
              </a:lnSpc>
              <a:defRPr sz="1100">
                <a:solidFill>
                  <a:srgbClr val="282828"/>
                </a:solidFill>
                <a:latin typeface="Arial"/>
              </a:defRPr>
            </a:pPr>
            <a:r>
              <a:t>4. Hiện thực hóa chuẩn an toàn ô tô (Functional Safety):</a:t>
            </a:r>
          </a:p>
          <a:p>
            <a:pPr>
              <a:lnSpc>
                <a:spcPct val="120000"/>
              </a:lnSpc>
              <a:defRPr sz="1100">
                <a:solidFill>
                  <a:srgbClr val="282828"/>
                </a:solidFill>
                <a:latin typeface="Arial"/>
              </a:defRPr>
            </a:pPr>
            <a:r>
              <a:t>   Khóa lỗi cứng Latched Fault cạn nước (DTC B1012), triệt tiêu điểm mù Pha/Cos, tự chẩn đoán kẹt nút chuẩn SAE J2012.</a:t>
            </a:r>
          </a:p>
        </p:txBody>
      </p:sp>
      <p:sp>
        <p:nvSpPr>
          <p:cNvPr id="8" name="Rounded Rectangle 7"/>
          <p:cNvSpPr/>
          <p:nvPr/>
        </p:nvSpPr>
        <p:spPr>
          <a:xfrm>
            <a:off x="6217920" y="1371600"/>
            <a:ext cx="5212080" cy="4937760"/>
          </a:xfrm>
          <a:prstGeom prst="roundRect">
            <a:avLst/>
          </a:prstGeom>
          <a:solidFill>
            <a:srgbClr val="FFFFFF"/>
          </a:solidFill>
          <a:ln w="15240">
            <a:solidFill>
              <a:srgbClr val="DA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08760"/>
            <a:ext cx="4846320" cy="411480"/>
          </a:xfrm>
          <a:prstGeom prst="rect">
            <a:avLst/>
          </a:prstGeom>
          <a:noFill/>
        </p:spPr>
        <p:txBody>
          <a:bodyPr wrap="none">
            <a:spAutoFit/>
          </a:bodyPr>
          <a:lstStyle/>
          <a:p>
            <a:r>
              <a:rPr sz="1300" b="1">
                <a:solidFill>
                  <a:srgbClr val="0A2540"/>
                </a:solidFill>
                <a:latin typeface="Arial"/>
              </a:rPr>
              <a:t>HƯỚNG PHÁT TRIỂN &amp; LỜI CẢM ƠN</a:t>
            </a:r>
          </a:p>
        </p:txBody>
      </p:sp>
      <p:sp>
        <p:nvSpPr>
          <p:cNvPr id="10" name="TextBox 9"/>
          <p:cNvSpPr txBox="1"/>
          <p:nvPr/>
        </p:nvSpPr>
        <p:spPr>
          <a:xfrm>
            <a:off x="6400800" y="1920240"/>
            <a:ext cx="4846320" cy="4206240"/>
          </a:xfrm>
          <a:prstGeom prst="rect">
            <a:avLst/>
          </a:prstGeom>
          <a:noFill/>
        </p:spPr>
        <p:txBody>
          <a:bodyPr wrap="square">
            <a:spAutoFit/>
          </a:bodyPr>
          <a:lstStyle/>
          <a:p>
            <a:pPr>
              <a:lnSpc>
                <a:spcPct val="125000"/>
              </a:lnSpc>
              <a:defRPr sz="1200">
                <a:solidFill>
                  <a:srgbClr val="282828"/>
                </a:solidFill>
                <a:latin typeface="Arial"/>
              </a:defRPr>
            </a:pPr>
            <a:r>
              <a:t>• Hướng phát triển nâng cao:</a:t>
            </a:r>
          </a:p>
          <a:p>
            <a:pPr>
              <a:lnSpc>
                <a:spcPct val="125000"/>
              </a:lnSpc>
              <a:defRPr sz="1200">
                <a:solidFill>
                  <a:srgbClr val="282828"/>
                </a:solidFill>
                <a:latin typeface="Arial"/>
              </a:defRPr>
            </a:pPr>
            <a:r>
              <a:t>  - Chuyển đổi sang kiến trúc AUTOSAR Classic (tách tầng MCAL, BSW, RTE, SWC).</a:t>
            </a:r>
          </a:p>
          <a:p>
            <a:pPr>
              <a:lnSpc>
                <a:spcPct val="125000"/>
              </a:lnSpc>
              <a:defRPr sz="1200">
                <a:solidFill>
                  <a:srgbClr val="282828"/>
                </a:solidFill>
                <a:latin typeface="Arial"/>
              </a:defRPr>
            </a:pPr>
            <a:r>
              <a:t>  - Nâng cấp mạng CAN-FD (5 Mbps, 64-byte payload) phục vụ tích hợp Radar mmWave.</a:t>
            </a:r>
          </a:p>
          <a:p>
            <a:pPr>
              <a:lnSpc>
                <a:spcPct val="125000"/>
              </a:lnSpc>
              <a:defRPr sz="1200">
                <a:solidFill>
                  <a:srgbClr val="282828"/>
                </a:solidFill>
                <a:latin typeface="Arial"/>
              </a:defRPr>
            </a:pPr>
          </a:p>
          <a:p>
            <a:pPr>
              <a:lnSpc>
                <a:spcPct val="125000"/>
              </a:lnSpc>
              <a:defRPr sz="1200">
                <a:solidFill>
                  <a:srgbClr val="282828"/>
                </a:solidFill>
                <a:latin typeface="Arial"/>
              </a:defRPr>
            </a:pPr>
            <a:r>
              <a:t>━━━━━━━━━━━━━━━━━━━━━━━━━━━━━</a:t>
            </a:r>
          </a:p>
          <a:p>
            <a:pPr>
              <a:lnSpc>
                <a:spcPct val="125000"/>
              </a:lnSpc>
              <a:defRPr sz="1200">
                <a:solidFill>
                  <a:srgbClr val="282828"/>
                </a:solidFill>
                <a:latin typeface="Arial"/>
              </a:defRPr>
            </a:pPr>
          </a:p>
          <a:p>
            <a:pPr>
              <a:lnSpc>
                <a:spcPct val="125000"/>
              </a:lnSpc>
              <a:defRPr sz="1200">
                <a:solidFill>
                  <a:srgbClr val="282828"/>
                </a:solidFill>
                <a:latin typeface="Arial"/>
              </a:defRPr>
            </a:pPr>
            <a:r>
              <a:t>XIN TRÂN TRỌNG CẢM ƠN QUÝ THẦY CÔ TRONG HỘI ĐỒNG BẢO VỆ ĐÃ LẮNG NGHE!</a:t>
            </a:r>
          </a:p>
          <a:p>
            <a:pPr>
              <a:lnSpc>
                <a:spcPct val="125000"/>
              </a:lnSpc>
              <a:defRPr sz="1200">
                <a:solidFill>
                  <a:srgbClr val="282828"/>
                </a:solidFill>
                <a:latin typeface="Arial"/>
              </a:defRPr>
            </a:pPr>
          </a:p>
          <a:p>
            <a:pPr>
              <a:lnSpc>
                <a:spcPct val="125000"/>
              </a:lnSpc>
              <a:defRPr sz="1200">
                <a:solidFill>
                  <a:srgbClr val="282828"/>
                </a:solidFill>
                <a:latin typeface="Arial"/>
              </a:defRPr>
            </a:pPr>
            <a:r>
              <a:t>RẤT MONG NHẬN ĐƯỢC NHẬN XÉT VÀ CÂU HỎI TỪ HỘI ĐỒNG (Q&amp;A).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